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2024年中国AI市场分析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市场规模 · 竞争格局 · 技术趋势 · 投资机会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2024年度深度研究报告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01  市场规模和增长趋势</a:t>
            </a:r>
          </a:p>
          <a:p>
            <a:pPr>
              <a:spcBef>
                <a:spcPts val="1200"/>
              </a:spcBef>
              <a:defRPr sz="1800"/>
            </a:pPr>
            <a:r>
              <a:t>      整体市场规模、细分领域、增长动力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02  主要玩家和竞争格局</a:t>
            </a:r>
          </a:p>
          <a:p>
            <a:pPr>
              <a:spcBef>
                <a:spcPts val="1200"/>
              </a:spcBef>
              <a:defRPr sz="1800"/>
            </a:pPr>
            <a:r>
              <a:t>      头部企业、市场份额、竞争态势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03  关键技术趋势</a:t>
            </a:r>
          </a:p>
          <a:p>
            <a:pPr>
              <a:spcBef>
                <a:spcPts val="1200"/>
              </a:spcBef>
              <a:defRPr sz="1800"/>
            </a:pPr>
            <a:r>
              <a:t>      大模型、AIGC、AI Agent、多模态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04  投资机会</a:t>
            </a:r>
          </a:p>
          <a:p>
            <a:pPr>
              <a:spcBef>
                <a:spcPts val="1200"/>
              </a:spcBef>
              <a:defRPr sz="1800"/>
            </a:pPr>
            <a:r>
              <a:t>      融资数据、热门赛道、投资建议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市场规模和增长趋势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🚀 整体市场规模</a:t>
            </a:r>
          </a:p>
          <a:p>
            <a:pPr>
              <a:spcBef>
                <a:spcPts val="1200"/>
              </a:spcBef>
              <a:defRPr sz="1800"/>
            </a:pPr>
            <a:r>
              <a:t>• 2024年中国AI行业市场规模：7,470亿元</a:t>
            </a:r>
          </a:p>
          <a:p>
            <a:pPr>
              <a:spcBef>
                <a:spcPts val="1200"/>
              </a:spcBef>
              <a:defRPr sz="1800"/>
            </a:pPr>
            <a:r>
              <a:t>• 同比增长率：41%</a:t>
            </a:r>
          </a:p>
          <a:p>
            <a:pPr>
              <a:spcBef>
                <a:spcPts val="1200"/>
              </a:spcBef>
              <a:defRPr sz="1800"/>
            </a:pPr>
            <a:r>
              <a:t>• AI公有云服务市场规模：195.9亿元（+55.3%）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📈 细分市场表现</a:t>
            </a:r>
          </a:p>
          <a:p>
            <a:pPr>
              <a:spcBef>
                <a:spcPts val="1200"/>
              </a:spcBef>
              <a:defRPr sz="1800"/>
            </a:pPr>
            <a:r>
              <a:t>• AI大模型：294.16亿元</a:t>
            </a:r>
          </a:p>
          <a:p>
            <a:pPr>
              <a:spcBef>
                <a:spcPts val="1200"/>
              </a:spcBef>
              <a:defRPr sz="1800"/>
            </a:pPr>
            <a:r>
              <a:t>• AI芯片：1,447亿元</a:t>
            </a:r>
          </a:p>
          <a:p>
            <a:pPr>
              <a:spcBef>
                <a:spcPts val="1200"/>
              </a:spcBef>
              <a:defRPr sz="1800"/>
            </a:pPr>
            <a:r>
              <a:t>• 计算机视觉：81亿元（+33.7%）</a:t>
            </a:r>
          </a:p>
          <a:p>
            <a:pPr>
              <a:spcBef>
                <a:spcPts val="1200"/>
              </a:spcBef>
              <a:defRPr sz="1800"/>
            </a:pPr>
            <a:r>
              <a:t>• 自然语言处理：22.2亿元（+51.1%）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🎯 增长预测</a:t>
            </a:r>
          </a:p>
          <a:p>
            <a:pPr>
              <a:spcBef>
                <a:spcPts val="1200"/>
              </a:spcBef>
              <a:defRPr sz="1800"/>
            </a:pPr>
            <a:r>
              <a:t>• 2026年大模型市场将突破700亿元</a:t>
            </a:r>
          </a:p>
          <a:p>
            <a:pPr>
              <a:spcBef>
                <a:spcPts val="1200"/>
              </a:spcBef>
              <a:defRPr sz="1800"/>
            </a:pPr>
            <a:r>
              <a:t>• 2035年生成式AI将超30万亿元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数据来源：艾媒咨询、IDC、前瞻产业研究院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市场增长驱动力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🏛️ 政策支持</a:t>
            </a:r>
          </a:p>
          <a:p>
            <a:pPr>
              <a:spcBef>
                <a:spcPts val="1200"/>
              </a:spcBef>
              <a:defRPr sz="1800"/>
            </a:pPr>
            <a:r>
              <a:t>• "人工智能+"行动全面实施</a:t>
            </a:r>
          </a:p>
          <a:p>
            <a:pPr>
              <a:spcBef>
                <a:spcPts val="1200"/>
              </a:spcBef>
              <a:defRPr sz="1800"/>
            </a:pPr>
            <a:r>
              <a:t>• "十四五"规划重点布局AI产业</a:t>
            </a:r>
          </a:p>
          <a:p>
            <a:pPr>
              <a:spcBef>
                <a:spcPts val="1200"/>
              </a:spcBef>
              <a:defRPr sz="1800"/>
            </a:pPr>
            <a:r>
              <a:t>• "东数西算"工程推进算力建设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💻 算力基础</a:t>
            </a:r>
          </a:p>
          <a:p>
            <a:pPr>
              <a:spcBef>
                <a:spcPts val="1200"/>
              </a:spcBef>
              <a:defRPr sz="1800"/>
            </a:pPr>
            <a:r>
              <a:t>• 全国30+城市建设智算中心</a:t>
            </a:r>
          </a:p>
          <a:p>
            <a:pPr>
              <a:spcBef>
                <a:spcPts val="1200"/>
              </a:spcBef>
              <a:defRPr sz="1800"/>
            </a:pPr>
            <a:r>
              <a:t>• 云计算市场达3097.3亿元</a:t>
            </a:r>
          </a:p>
          <a:p>
            <a:pPr>
              <a:spcBef>
                <a:spcPts val="1200"/>
              </a:spcBef>
              <a:defRPr sz="1800"/>
            </a:pPr>
            <a:r>
              <a:t>• AI芯片年复合增长率79.9%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🔬 技术突破</a:t>
            </a:r>
          </a:p>
          <a:p>
            <a:pPr>
              <a:spcBef>
                <a:spcPts val="1200"/>
              </a:spcBef>
              <a:defRPr sz="1800"/>
            </a:pPr>
            <a:r>
              <a:t>• 大模型技术快速迭代</a:t>
            </a:r>
          </a:p>
          <a:p>
            <a:pPr>
              <a:spcBef>
                <a:spcPts val="1200"/>
              </a:spcBef>
              <a:defRPr sz="1800"/>
            </a:pPr>
            <a:r>
              <a:t>• 多模态AI能力持续提升</a:t>
            </a:r>
          </a:p>
          <a:p>
            <a:pPr>
              <a:spcBef>
                <a:spcPts val="1200"/>
              </a:spcBef>
              <a:defRPr sz="1800"/>
            </a:pPr>
            <a:r>
              <a:t>• AI Agent自主性增强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📱 应用普及</a:t>
            </a:r>
          </a:p>
          <a:p>
            <a:pPr>
              <a:spcBef>
                <a:spcPts val="1200"/>
              </a:spcBef>
              <a:defRPr sz="1800"/>
            </a:pPr>
            <a:r>
              <a:t>• 金融、医疗等行业渗透率超50%</a:t>
            </a:r>
          </a:p>
          <a:p>
            <a:pPr>
              <a:spcBef>
                <a:spcPts val="1200"/>
              </a:spcBef>
              <a:defRPr sz="1800"/>
            </a:pPr>
            <a:r>
              <a:t>• 企业数字化转型需求旺盛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数据来源：中国信通院《人工智能发展报告(2024年)》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主要玩家和竞争格局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🔵 百度 - 文心大模型系列</a:t>
            </a:r>
          </a:p>
          <a:p>
            <a:pPr>
              <a:spcBef>
                <a:spcPts val="1200"/>
              </a:spcBef>
              <a:defRPr sz="1800"/>
            </a:pPr>
            <a:r>
              <a:t>• 文心一言用户超1亿  • 搜索+AI深度融合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🟠 阿里巴巴 - 通义千问系列</a:t>
            </a:r>
          </a:p>
          <a:p>
            <a:pPr>
              <a:spcBef>
                <a:spcPts val="1200"/>
              </a:spcBef>
              <a:defRPr sz="1800"/>
            </a:pPr>
            <a:r>
              <a:t>• 电商+AI场景优势  • 云服务生态整合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🟢 腾讯 - 混元大模型</a:t>
            </a:r>
          </a:p>
          <a:p>
            <a:pPr>
              <a:spcBef>
                <a:spcPts val="1200"/>
              </a:spcBef>
              <a:defRPr sz="1800"/>
            </a:pPr>
            <a:r>
              <a:t>• 社交+内容AI赋能  • 计算机视觉市场第一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🔴 华为 - 盘古大模型</a:t>
            </a:r>
          </a:p>
          <a:p>
            <a:pPr>
              <a:spcBef>
                <a:spcPts val="1200"/>
              </a:spcBef>
              <a:defRPr sz="1800"/>
            </a:pPr>
            <a:r>
              <a:t>• To B行业大模型专家  • 算力+芯片全栈布局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🌟 新兴力量</a:t>
            </a:r>
          </a:p>
          <a:p>
            <a:pPr>
              <a:spcBef>
                <a:spcPts val="1200"/>
              </a:spcBef>
              <a:defRPr sz="1800"/>
            </a:pPr>
            <a:r>
              <a:t>字节跳动（豆包）、科大讯飞（星火）、商汤科技、</a:t>
            </a:r>
          </a:p>
          <a:p>
            <a:pPr>
              <a:spcBef>
                <a:spcPts val="1200"/>
              </a:spcBef>
              <a:defRPr sz="1800"/>
            </a:pPr>
            <a:r>
              <a:t>旷视科技、月之暗面（Kimi）、百川智能、智谱AI等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数据来源：艾瑞咨询《2024年中国人工智能产业研究报告》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关键技术趋势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🤖 大模型（LLM）</a:t>
            </a:r>
          </a:p>
          <a:p>
            <a:pPr>
              <a:spcBef>
                <a:spcPts val="1200"/>
              </a:spcBef>
              <a:defRPr sz="1800"/>
            </a:pPr>
            <a:r>
              <a:t>• 参数规模持续扩大：千亿级成主流</a:t>
            </a:r>
          </a:p>
          <a:p>
            <a:pPr>
              <a:spcBef>
                <a:spcPts val="1200"/>
              </a:spcBef>
              <a:defRPr sz="1800"/>
            </a:pPr>
            <a:r>
              <a:t>• 多模态融合：文本、图像、音频统一</a:t>
            </a:r>
          </a:p>
          <a:p>
            <a:pPr>
              <a:spcBef>
                <a:spcPts val="1200"/>
              </a:spcBef>
              <a:defRPr sz="1800"/>
            </a:pPr>
            <a:r>
              <a:t>• 垂直领域模型：金融、医疗专用大模型</a:t>
            </a:r>
          </a:p>
          <a:p>
            <a:pPr>
              <a:spcBef>
                <a:spcPts val="1200"/>
              </a:spcBef>
              <a:defRPr sz="1800"/>
            </a:pPr>
            <a:r>
              <a:t>• 端侧大模型：手机、PC本地化运行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🎨 生成式AI（AIGC）</a:t>
            </a:r>
          </a:p>
          <a:p>
            <a:pPr>
              <a:spcBef>
                <a:spcPts val="1200"/>
              </a:spcBef>
              <a:defRPr sz="1800"/>
            </a:pPr>
            <a:r>
              <a:t>• 内容创作：文案、设计、视频生成</a:t>
            </a:r>
          </a:p>
          <a:p>
            <a:pPr>
              <a:spcBef>
                <a:spcPts val="1200"/>
              </a:spcBef>
              <a:defRPr sz="1800"/>
            </a:pPr>
            <a:r>
              <a:t>• 代码生成：提升开发效率</a:t>
            </a:r>
          </a:p>
          <a:p>
            <a:pPr>
              <a:spcBef>
                <a:spcPts val="1200"/>
              </a:spcBef>
              <a:defRPr sz="1800"/>
            </a:pPr>
            <a:r>
              <a:t>• 2024市场规模14.4万亿元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🦾 AI Agent（智能体）</a:t>
            </a:r>
          </a:p>
          <a:p>
            <a:pPr>
              <a:spcBef>
                <a:spcPts val="1200"/>
              </a:spcBef>
              <a:defRPr sz="1800"/>
            </a:pPr>
            <a:r>
              <a:t>• 自主决策能力：无需人工干预</a:t>
            </a:r>
          </a:p>
          <a:p>
            <a:pPr>
              <a:spcBef>
                <a:spcPts val="1200"/>
              </a:spcBef>
              <a:defRPr sz="1800"/>
            </a:pPr>
            <a:r>
              <a:t>• 任务分解执行：复杂任务自动完成</a:t>
            </a:r>
          </a:p>
          <a:p>
            <a:pPr>
              <a:spcBef>
                <a:spcPts val="1200"/>
              </a:spcBef>
              <a:defRPr sz="1800"/>
            </a:pPr>
            <a:r>
              <a:t>• 2025进入Agent时代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数据来源：中国软件评测中心、腾讯研究院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投资机会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📊 投融资数据</a:t>
            </a:r>
          </a:p>
          <a:p>
            <a:pPr>
              <a:spcBef>
                <a:spcPts val="1200"/>
              </a:spcBef>
              <a:defRPr sz="1800"/>
            </a:pPr>
            <a:r>
              <a:t>• 2024年AI行业融资总额：1,000亿元+</a:t>
            </a:r>
          </a:p>
          <a:p>
            <a:pPr>
              <a:spcBef>
                <a:spcPts val="1200"/>
              </a:spcBef>
              <a:defRPr sz="1800"/>
            </a:pPr>
            <a:r>
              <a:t>• 50%的AI公司在成立3年内获得投资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🔥 热门投资赛道</a:t>
            </a:r>
          </a:p>
          <a:p>
            <a:pPr>
              <a:spcBef>
                <a:spcPts val="1200"/>
              </a:spcBef>
              <a:defRPr sz="1800"/>
            </a:pPr>
            <a:r>
              <a:t>• 大模型基础设施：算力、芯片、训练平台</a:t>
            </a:r>
          </a:p>
          <a:p>
            <a:pPr>
              <a:spcBef>
                <a:spcPts val="1200"/>
              </a:spcBef>
              <a:defRPr sz="1800"/>
            </a:pPr>
            <a:r>
              <a:t>• 垂直行业应用：金融、医疗、教育</a:t>
            </a:r>
          </a:p>
          <a:p>
            <a:pPr>
              <a:spcBef>
                <a:spcPts val="1200"/>
              </a:spcBef>
              <a:defRPr sz="1800"/>
            </a:pPr>
            <a:r>
              <a:t>• AIGC工具：内容生成、设计工具</a:t>
            </a:r>
          </a:p>
          <a:p>
            <a:pPr>
              <a:spcBef>
                <a:spcPts val="1200"/>
              </a:spcBef>
              <a:defRPr sz="1800"/>
            </a:pPr>
            <a:r>
              <a:t>• AI Agent平台：智能体开发与运营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🎯 高渗透率行业</a:t>
            </a:r>
          </a:p>
          <a:p>
            <a:pPr>
              <a:spcBef>
                <a:spcPts val="1200"/>
              </a:spcBef>
              <a:defRPr sz="1800"/>
            </a:pPr>
            <a:r>
              <a:t>• 金融：渗透率&gt;50%，风控+投顾</a:t>
            </a:r>
          </a:p>
          <a:p>
            <a:pPr>
              <a:spcBef>
                <a:spcPts val="1200"/>
              </a:spcBef>
              <a:defRPr sz="1800"/>
            </a:pPr>
            <a:r>
              <a:t>• 政府：渗透率&gt;50%，智慧城市</a:t>
            </a:r>
          </a:p>
          <a:p>
            <a:pPr>
              <a:spcBef>
                <a:spcPts val="1200"/>
              </a:spcBef>
              <a:defRPr sz="1800"/>
            </a:pPr>
            <a:r>
              <a:t>• 教育：渗透率&gt;50%，个性化学习</a:t>
            </a:r>
          </a:p>
          <a:p>
            <a:pPr>
              <a:spcBef>
                <a:spcPts val="1200"/>
              </a:spcBef>
              <a:defRPr sz="1800"/>
            </a:pPr>
            <a:r>
              <a:t>• 医疗：影像诊断+新药研发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数据来源：清科研究中心、IT桔子、投中网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/>
            </a:pPr>
            <a:r>
              <a:t>🌟 市场展望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爆发式增长</a:t>
            </a:r>
          </a:p>
          <a:p>
            <a:pPr>
              <a:spcBef>
                <a:spcPts val="1200"/>
              </a:spcBef>
              <a:defRPr sz="1800"/>
            </a:pPr>
            <a:r>
              <a:t>2024年市场规模7,470亿元，未来3年CAGR超40%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政策红利</a:t>
            </a:r>
          </a:p>
          <a:p>
            <a:pPr>
              <a:spcBef>
                <a:spcPts val="1200"/>
              </a:spcBef>
              <a:defRPr sz="1800"/>
            </a:pPr>
            <a:r>
              <a:t>"人工智能+"行动持续推进，算力基础设施加速建设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技术成熟</a:t>
            </a:r>
          </a:p>
          <a:p>
            <a:pPr>
              <a:spcBef>
                <a:spcPts val="1200"/>
              </a:spcBef>
              <a:defRPr sz="1800"/>
            </a:pPr>
            <a:r>
              <a:t>大模型进入应用落地期，2025年开启AI Agent时代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竞争激烈</a:t>
            </a:r>
          </a:p>
          <a:p>
            <a:pPr>
              <a:spcBef>
                <a:spcPts val="1200"/>
              </a:spcBef>
              <a:defRPr sz="1800"/>
            </a:pPr>
            <a:r>
              <a:t>BAT+华为领跑，新兴企业快速崛起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✅ 投资活跃</a:t>
            </a:r>
          </a:p>
          <a:p>
            <a:pPr>
              <a:spcBef>
                <a:spcPts val="1200"/>
              </a:spcBef>
              <a:defRPr sz="1800"/>
            </a:pPr>
            <a:r>
              <a:t>年度融资超千亿，垂直应用成投资热点</a:t>
            </a:r>
          </a:p>
          <a:p>
            <a:pPr>
              <a:spcBef>
                <a:spcPts val="1200"/>
              </a:spcBef>
              <a:defRPr sz="1800"/>
            </a:pPr>
          </a:p>
          <a:p>
            <a:pPr>
              <a:spcBef>
                <a:spcPts val="1200"/>
              </a:spcBef>
              <a:defRPr sz="1800"/>
            </a:pPr>
            <a:r>
              <a:t>━━━━━━━━━━━━━━━━━━━━━━</a:t>
            </a:r>
          </a:p>
          <a:p>
            <a:pPr>
              <a:spcBef>
                <a:spcPts val="1200"/>
              </a:spcBef>
              <a:defRPr sz="1800"/>
            </a:pPr>
            <a:r>
              <a:t>🚀 2024-2026是中国AI产业的黄金发展期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