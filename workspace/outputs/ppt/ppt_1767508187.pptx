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fntdata" ContentType="application/x-fontdata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embeddedFontLst>
    <p:embeddedFont>
      <p:font typeface="Figtree SemiBold" pitchFamily="2" charset="0"/>
      <p:regular r:id="rId21"/>
    </p:embeddedFont>
    <p:embeddedFont>
      <p:font typeface="Figtree Bold" pitchFamily="2" charset="0"/>
      <p:regular r:id="rId22"/>
    </p:embeddedFont>
    <p:embeddedFont>
      <p:font typeface="Figtree Regular" pitchFamily="2" charset="0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
    <Relationship Id="rId21" Type="http://schemas.openxmlformats.org/officeDocument/2006/relationships/font" Target="fonts/font1.fntdata"/>
    <Relationship Id="rId22" Type="http://schemas.openxmlformats.org/officeDocument/2006/relationships/font" Target="fonts/font2.fntdata"/>
    <Relationship Id="rId23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image" Target="../media/21a9add17137d1ac1234aad51f6cad000b4636a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image" Target="../media/82e3ef222eb4059f4c15ee371702f56a831a2cf0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108960"/>
            <a:ext cx="12192000" cy="3749040"/>
          </a:xfrm>
          <a:prstGeom prst="rect">
            <a:avLst/>
          </a:prstGeom>
          <a:gradFill>
            <a:gsLst>
              <a:gs pos="15000">
                <a:srgbClr val="000000">
                  <a:alpha val="100000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1519" y="5473446"/>
            <a:ext cx="10728960" cy="9525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1723241"/>
            <a:ext cx="10728960" cy="35292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智能招聘管理与数据分析平台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95836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1520" y="5712716"/>
            <a:ext cx="10728960" cy="823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实现招聘流程数字化、数据可视化及高效协同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00400" y="1157457"/>
            <a:ext cx="8321040" cy="9525"/>
          </a:xfrm>
          <a:custGeom>
            <a:avLst/>
            <a:gdLst/>
            <a:ahLst/>
            <a:cxnLst/>
            <a:rect l="l" t="t" r="r" b="b"/>
            <a:pathLst>
              <a:path w="8321040" h="9525">
                <a:moveTo>
                  <a:pt x="0" y="0"/>
                </a:moveTo>
                <a:lnTo>
                  <a:pt x="83210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-7641" y="0"/>
            <a:ext cx="2750841" cy="6858000"/>
          </a:xfrm>
          <a:prstGeom prst="rect">
            <a:avLst/>
          </a:prstGeom>
          <a:blipFill>
            <a:blip r:embed="rId1"/>
            <a:srcRect l="0" t="0" r="0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911840" y="1365505"/>
            <a:ext cx="640080" cy="458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03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04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05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06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07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08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09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10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11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12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13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1365505"/>
            <a:ext cx="7498080" cy="458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项目背景与目标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系统核心功能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登录设计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月度招聘计划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主页目标看板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完整招聘流程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候选人管理界面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面试记录详情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招聘漏斗分析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流失原因分析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系统技术要点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系统价值与下一步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503683"/>
            <a:ext cx="8261520" cy="5386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Table of Contents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655241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655243" y="0"/>
            <a:ext cx="536757" cy="6858000"/>
          </a:xfrm>
          <a:prstGeom prst="rect">
            <a:avLst/>
          </a:prstGeom>
          <a:blipFill>
            <a:blip r:embed="rId1"/>
            <a:srcRect l="0" t="0" r="80488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79" y="1311410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63439" y="1311410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79" y="1164795"/>
            <a:ext cx="7863840" cy="45719"/>
          </a:xfrm>
          <a:custGeom>
            <a:avLst/>
            <a:gdLst/>
            <a:ahLst/>
            <a:cxnLst/>
            <a:rect l="l" t="t" r="r" b="b"/>
            <a:pathLst>
              <a:path w="7863840" h="45719">
                <a:moveTo>
                  <a:pt x="0" y="0"/>
                </a:moveTo>
                <a:lnTo>
                  <a:pt x="78638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79" y="3821072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3439" y="3821072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900160" y="0"/>
            <a:ext cx="3291840" cy="6858000"/>
          </a:xfrm>
          <a:prstGeom prst="rect">
            <a:avLst/>
          </a:prstGeom>
          <a:blipFill>
            <a:blip r:embed="rId2"/>
            <a:srcRect/>
            <a:stretch>
              <a:fillRect l="-115221" r="-115221" t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0079" y="1"/>
            <a:ext cx="786384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项目背景与目标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57765" y="6309360"/>
            <a:ext cx="76461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智能招聘管理与数据分析平台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37759" y="504495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HR与业务部门无缝协作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59" y="45719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核心价值 - 协同高效化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399" y="504495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招聘漏斗、流失分析、目标达成率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399" y="45719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核心价值 - 数据可视化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59" y="253529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从候选人筛选到入职全流程管理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59" y="206228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核心价值 - 流程数字化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399" y="253529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智能招聘管理与数据分析平台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399" y="206228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系统定位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14399" y="150232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31470" y="182880"/>
                </a:moveTo>
                <a:cubicBezTo>
                  <a:pt x="331470" y="100814"/>
                  <a:pt x="264946" y="34290"/>
                  <a:pt x="182880" y="34290"/>
                </a:cubicBezTo>
                <a:cubicBezTo>
                  <a:pt x="100814" y="34290"/>
                  <a:pt x="34290" y="100814"/>
                  <a:pt x="34290" y="182880"/>
                </a:cubicBezTo>
                <a:cubicBezTo>
                  <a:pt x="34290" y="264946"/>
                  <a:pt x="100814" y="331470"/>
                  <a:pt x="182880" y="331470"/>
                </a:cubicBezTo>
                <a:cubicBezTo>
                  <a:pt x="264946" y="331470"/>
                  <a:pt x="331470" y="264946"/>
                  <a:pt x="331470" y="182880"/>
                </a:cubicBezTo>
                <a:lnTo>
                  <a:pt x="331470" y="182880"/>
                </a:lnTo>
                <a:moveTo>
                  <a:pt x="0" y="182880"/>
                </a:moveTo>
                <a:cubicBezTo>
                  <a:pt x="0" y="81879"/>
                  <a:pt x="81879" y="0"/>
                  <a:pt x="182880" y="0"/>
                </a:cubicBezTo>
                <a:cubicBezTo>
                  <a:pt x="283881" y="0"/>
                  <a:pt x="365760" y="81879"/>
                  <a:pt x="365760" y="182880"/>
                </a:cubicBezTo>
                <a:cubicBezTo>
                  <a:pt x="365760" y="283881"/>
                  <a:pt x="283881" y="365760"/>
                  <a:pt x="182880" y="365760"/>
                </a:cubicBezTo>
                <a:cubicBezTo>
                  <a:pt x="81879" y="365760"/>
                  <a:pt x="0" y="283881"/>
                  <a:pt x="0" y="182880"/>
                </a:cubicBezTo>
                <a:moveTo>
                  <a:pt x="219098" y="232243"/>
                </a:moveTo>
                <a:lnTo>
                  <a:pt x="116012" y="271891"/>
                </a:lnTo>
                <a:cubicBezTo>
                  <a:pt x="102153" y="277250"/>
                  <a:pt x="88507" y="263603"/>
                  <a:pt x="93865" y="249745"/>
                </a:cubicBezTo>
                <a:lnTo>
                  <a:pt x="133513" y="146659"/>
                </a:lnTo>
                <a:cubicBezTo>
                  <a:pt x="135873" y="140587"/>
                  <a:pt x="140587" y="135872"/>
                  <a:pt x="146659" y="133513"/>
                </a:cubicBezTo>
                <a:lnTo>
                  <a:pt x="249745" y="93865"/>
                </a:lnTo>
                <a:cubicBezTo>
                  <a:pt x="263603" y="88506"/>
                  <a:pt x="277250" y="102153"/>
                  <a:pt x="271891" y="116012"/>
                </a:cubicBezTo>
                <a:lnTo>
                  <a:pt x="232243" y="219097"/>
                </a:lnTo>
                <a:cubicBezTo>
                  <a:pt x="229957" y="225169"/>
                  <a:pt x="225169" y="229884"/>
                  <a:pt x="219098" y="232243"/>
                </a:cubicBezTo>
                <a:lnTo>
                  <a:pt x="219098" y="232243"/>
                </a:lnTo>
                <a:moveTo>
                  <a:pt x="205740" y="182880"/>
                </a:moveTo>
                <a:cubicBezTo>
                  <a:pt x="205740" y="170254"/>
                  <a:pt x="195506" y="160020"/>
                  <a:pt x="182880" y="160020"/>
                </a:cubicBezTo>
                <a:cubicBezTo>
                  <a:pt x="170254" y="160020"/>
                  <a:pt x="160020" y="170254"/>
                  <a:pt x="160020" y="182880"/>
                </a:cubicBezTo>
                <a:cubicBezTo>
                  <a:pt x="160020" y="195506"/>
                  <a:pt x="170254" y="205740"/>
                  <a:pt x="182880" y="205740"/>
                </a:cubicBezTo>
                <a:cubicBezTo>
                  <a:pt x="195506" y="205740"/>
                  <a:pt x="205740" y="195506"/>
                  <a:pt x="205740" y="18288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83479" y="1502320"/>
            <a:ext cx="274320" cy="365760"/>
          </a:xfrm>
          <a:custGeom>
            <a:avLst/>
            <a:gdLst/>
            <a:ahLst/>
            <a:cxnLst/>
            <a:rect l="l" t="t" r="r" b="b"/>
            <a:pathLst>
              <a:path w="274320" h="365760">
                <a:moveTo>
                  <a:pt x="200026" y="45720"/>
                </a:moveTo>
                <a:lnTo>
                  <a:pt x="228602" y="45720"/>
                </a:lnTo>
                <a:cubicBezTo>
                  <a:pt x="253820" y="45720"/>
                  <a:pt x="274323" y="66221"/>
                  <a:pt x="274323" y="91440"/>
                </a:cubicBezTo>
                <a:lnTo>
                  <a:pt x="274323" y="320040"/>
                </a:lnTo>
                <a:cubicBezTo>
                  <a:pt x="274323" y="345259"/>
                  <a:pt x="253820" y="365760"/>
                  <a:pt x="228602" y="365760"/>
                </a:cubicBezTo>
                <a:lnTo>
                  <a:pt x="45721" y="365760"/>
                </a:lnTo>
                <a:cubicBezTo>
                  <a:pt x="20503" y="365760"/>
                  <a:pt x="0" y="345259"/>
                  <a:pt x="0" y="320040"/>
                </a:cubicBezTo>
                <a:lnTo>
                  <a:pt x="0" y="91440"/>
                </a:lnTo>
                <a:cubicBezTo>
                  <a:pt x="0" y="66221"/>
                  <a:pt x="20503" y="45720"/>
                  <a:pt x="45721" y="45720"/>
                </a:cubicBezTo>
                <a:lnTo>
                  <a:pt x="74297" y="45720"/>
                </a:lnTo>
                <a:lnTo>
                  <a:pt x="81155" y="45720"/>
                </a:lnTo>
                <a:cubicBezTo>
                  <a:pt x="86441" y="19645"/>
                  <a:pt x="109517" y="0"/>
                  <a:pt x="137163" y="0"/>
                </a:cubicBezTo>
                <a:cubicBezTo>
                  <a:pt x="164809" y="0"/>
                  <a:pt x="187885" y="19645"/>
                  <a:pt x="193171" y="45720"/>
                </a:cubicBezTo>
                <a:lnTo>
                  <a:pt x="200026" y="45720"/>
                </a:lnTo>
                <a:moveTo>
                  <a:pt x="45721" y="80010"/>
                </a:moveTo>
                <a:cubicBezTo>
                  <a:pt x="39434" y="80010"/>
                  <a:pt x="34290" y="85153"/>
                  <a:pt x="34290" y="91440"/>
                </a:cubicBezTo>
                <a:lnTo>
                  <a:pt x="34290" y="320040"/>
                </a:lnTo>
                <a:cubicBezTo>
                  <a:pt x="34290" y="326327"/>
                  <a:pt x="39434" y="331470"/>
                  <a:pt x="45721" y="331470"/>
                </a:cubicBezTo>
                <a:lnTo>
                  <a:pt x="228602" y="331470"/>
                </a:lnTo>
                <a:cubicBezTo>
                  <a:pt x="234889" y="331470"/>
                  <a:pt x="240033" y="326327"/>
                  <a:pt x="240033" y="320040"/>
                </a:cubicBezTo>
                <a:lnTo>
                  <a:pt x="240033" y="91440"/>
                </a:lnTo>
                <a:cubicBezTo>
                  <a:pt x="240033" y="85153"/>
                  <a:pt x="234889" y="80010"/>
                  <a:pt x="228602" y="80010"/>
                </a:cubicBezTo>
                <a:lnTo>
                  <a:pt x="217171" y="80010"/>
                </a:lnTo>
                <a:lnTo>
                  <a:pt x="217171" y="97157"/>
                </a:lnTo>
                <a:cubicBezTo>
                  <a:pt x="217171" y="106659"/>
                  <a:pt x="209528" y="114304"/>
                  <a:pt x="200026" y="114304"/>
                </a:cubicBezTo>
                <a:lnTo>
                  <a:pt x="137160" y="114304"/>
                </a:lnTo>
                <a:lnTo>
                  <a:pt x="74294" y="114304"/>
                </a:lnTo>
                <a:cubicBezTo>
                  <a:pt x="64792" y="114304"/>
                  <a:pt x="57149" y="106659"/>
                  <a:pt x="57149" y="97160"/>
                </a:cubicBezTo>
                <a:lnTo>
                  <a:pt x="57149" y="80017"/>
                </a:lnTo>
                <a:lnTo>
                  <a:pt x="45721" y="80010"/>
                </a:lnTo>
                <a:moveTo>
                  <a:pt x="137160" y="74297"/>
                </a:moveTo>
                <a:cubicBezTo>
                  <a:pt x="146630" y="74297"/>
                  <a:pt x="154305" y="66619"/>
                  <a:pt x="154305" y="57154"/>
                </a:cubicBezTo>
                <a:cubicBezTo>
                  <a:pt x="154305" y="47684"/>
                  <a:pt x="146630" y="40010"/>
                  <a:pt x="137160" y="40010"/>
                </a:cubicBezTo>
                <a:cubicBezTo>
                  <a:pt x="127690" y="40010"/>
                  <a:pt x="120015" y="47688"/>
                  <a:pt x="120015" y="57157"/>
                </a:cubicBezTo>
                <a:cubicBezTo>
                  <a:pt x="120015" y="66627"/>
                  <a:pt x="127690" y="74304"/>
                  <a:pt x="137160" y="74304"/>
                </a:cubicBezTo>
                <a:lnTo>
                  <a:pt x="137160" y="74297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14399" y="4034842"/>
            <a:ext cx="365760" cy="320040"/>
          </a:xfrm>
          <a:custGeom>
            <a:avLst/>
            <a:gdLst/>
            <a:ahLst/>
            <a:cxnLst/>
            <a:rect l="l" t="t" r="r" b="b"/>
            <a:pathLst>
              <a:path w="365760" h="320040">
                <a:moveTo>
                  <a:pt x="297180" y="34289"/>
                </a:moveTo>
                <a:cubicBezTo>
                  <a:pt x="303467" y="34289"/>
                  <a:pt x="308610" y="39432"/>
                  <a:pt x="308610" y="45718"/>
                </a:cubicBezTo>
                <a:cubicBezTo>
                  <a:pt x="308610" y="52003"/>
                  <a:pt x="303467" y="57146"/>
                  <a:pt x="297180" y="57146"/>
                </a:cubicBezTo>
                <a:lnTo>
                  <a:pt x="68580" y="57146"/>
                </a:lnTo>
                <a:cubicBezTo>
                  <a:pt x="62293" y="57146"/>
                  <a:pt x="57150" y="52003"/>
                  <a:pt x="57150" y="45718"/>
                </a:cubicBezTo>
                <a:cubicBezTo>
                  <a:pt x="57150" y="39432"/>
                  <a:pt x="62293" y="34289"/>
                  <a:pt x="68580" y="34289"/>
                </a:cubicBezTo>
                <a:lnTo>
                  <a:pt x="297180" y="34289"/>
                </a:lnTo>
                <a:moveTo>
                  <a:pt x="68580" y="0"/>
                </a:moveTo>
                <a:cubicBezTo>
                  <a:pt x="43361" y="0"/>
                  <a:pt x="22860" y="20502"/>
                  <a:pt x="22860" y="45721"/>
                </a:cubicBezTo>
                <a:cubicBezTo>
                  <a:pt x="22860" y="70937"/>
                  <a:pt x="43361" y="91442"/>
                  <a:pt x="68580" y="91442"/>
                </a:cubicBezTo>
                <a:lnTo>
                  <a:pt x="165737" y="91442"/>
                </a:lnTo>
                <a:lnTo>
                  <a:pt x="165737" y="102871"/>
                </a:lnTo>
                <a:lnTo>
                  <a:pt x="158663" y="109943"/>
                </a:lnTo>
                <a:lnTo>
                  <a:pt x="138590" y="130016"/>
                </a:lnTo>
                <a:lnTo>
                  <a:pt x="131447" y="137160"/>
                </a:lnTo>
                <a:lnTo>
                  <a:pt x="91444" y="137160"/>
                </a:lnTo>
                <a:cubicBezTo>
                  <a:pt x="56726" y="137160"/>
                  <a:pt x="28580" y="165307"/>
                  <a:pt x="28580" y="200025"/>
                </a:cubicBezTo>
                <a:lnTo>
                  <a:pt x="28580" y="228601"/>
                </a:lnTo>
                <a:lnTo>
                  <a:pt x="22867" y="228601"/>
                </a:lnTo>
                <a:cubicBezTo>
                  <a:pt x="10223" y="228601"/>
                  <a:pt x="7" y="238817"/>
                  <a:pt x="7" y="251462"/>
                </a:cubicBezTo>
                <a:lnTo>
                  <a:pt x="7" y="297183"/>
                </a:lnTo>
                <a:cubicBezTo>
                  <a:pt x="7" y="309828"/>
                  <a:pt x="10223" y="320043"/>
                  <a:pt x="22867" y="320043"/>
                </a:cubicBezTo>
                <a:lnTo>
                  <a:pt x="68587" y="320043"/>
                </a:lnTo>
                <a:cubicBezTo>
                  <a:pt x="81232" y="320043"/>
                  <a:pt x="91447" y="309828"/>
                  <a:pt x="91447" y="297183"/>
                </a:cubicBezTo>
                <a:lnTo>
                  <a:pt x="91447" y="251462"/>
                </a:lnTo>
                <a:cubicBezTo>
                  <a:pt x="91447" y="238817"/>
                  <a:pt x="81232" y="228601"/>
                  <a:pt x="68587" y="228601"/>
                </a:cubicBezTo>
                <a:lnTo>
                  <a:pt x="62874" y="228601"/>
                </a:lnTo>
                <a:lnTo>
                  <a:pt x="62874" y="200025"/>
                </a:lnTo>
                <a:cubicBezTo>
                  <a:pt x="62874" y="184238"/>
                  <a:pt x="75661" y="171449"/>
                  <a:pt x="91451" y="171449"/>
                </a:cubicBezTo>
                <a:lnTo>
                  <a:pt x="131458" y="171449"/>
                </a:lnTo>
                <a:lnTo>
                  <a:pt x="138532" y="178522"/>
                </a:lnTo>
                <a:lnTo>
                  <a:pt x="158604" y="198595"/>
                </a:lnTo>
                <a:lnTo>
                  <a:pt x="165748" y="205738"/>
                </a:lnTo>
                <a:lnTo>
                  <a:pt x="165748" y="228598"/>
                </a:lnTo>
                <a:lnTo>
                  <a:pt x="160034" y="228598"/>
                </a:lnTo>
                <a:cubicBezTo>
                  <a:pt x="147390" y="228598"/>
                  <a:pt x="137174" y="238814"/>
                  <a:pt x="137174" y="251459"/>
                </a:cubicBezTo>
                <a:lnTo>
                  <a:pt x="137174" y="297180"/>
                </a:lnTo>
                <a:cubicBezTo>
                  <a:pt x="137174" y="309825"/>
                  <a:pt x="147390" y="320040"/>
                  <a:pt x="160034" y="320040"/>
                </a:cubicBezTo>
                <a:lnTo>
                  <a:pt x="205754" y="320040"/>
                </a:lnTo>
                <a:cubicBezTo>
                  <a:pt x="218399" y="320040"/>
                  <a:pt x="228614" y="309825"/>
                  <a:pt x="228614" y="297180"/>
                </a:cubicBezTo>
                <a:lnTo>
                  <a:pt x="228614" y="251459"/>
                </a:lnTo>
                <a:cubicBezTo>
                  <a:pt x="228614" y="238814"/>
                  <a:pt x="218399" y="228598"/>
                  <a:pt x="205754" y="228598"/>
                </a:cubicBezTo>
                <a:lnTo>
                  <a:pt x="200041" y="228598"/>
                </a:lnTo>
                <a:lnTo>
                  <a:pt x="200041" y="205738"/>
                </a:lnTo>
                <a:lnTo>
                  <a:pt x="207115" y="198665"/>
                </a:lnTo>
                <a:lnTo>
                  <a:pt x="227188" y="178592"/>
                </a:lnTo>
                <a:lnTo>
                  <a:pt x="234331" y="171449"/>
                </a:lnTo>
                <a:lnTo>
                  <a:pt x="274338" y="171449"/>
                </a:lnTo>
                <a:cubicBezTo>
                  <a:pt x="290124" y="171449"/>
                  <a:pt x="302915" y="184238"/>
                  <a:pt x="302915" y="200025"/>
                </a:cubicBezTo>
                <a:lnTo>
                  <a:pt x="302915" y="228601"/>
                </a:lnTo>
                <a:lnTo>
                  <a:pt x="297202" y="228601"/>
                </a:lnTo>
                <a:cubicBezTo>
                  <a:pt x="284557" y="228601"/>
                  <a:pt x="274342" y="238817"/>
                  <a:pt x="274342" y="251462"/>
                </a:cubicBezTo>
                <a:lnTo>
                  <a:pt x="274342" y="297183"/>
                </a:lnTo>
                <a:cubicBezTo>
                  <a:pt x="274342" y="309828"/>
                  <a:pt x="284557" y="320043"/>
                  <a:pt x="297202" y="320043"/>
                </a:cubicBezTo>
                <a:lnTo>
                  <a:pt x="342922" y="320043"/>
                </a:lnTo>
                <a:cubicBezTo>
                  <a:pt x="355566" y="320043"/>
                  <a:pt x="365782" y="309828"/>
                  <a:pt x="365782" y="297183"/>
                </a:cubicBezTo>
                <a:lnTo>
                  <a:pt x="365782" y="251462"/>
                </a:lnTo>
                <a:cubicBezTo>
                  <a:pt x="365782" y="238817"/>
                  <a:pt x="355566" y="228601"/>
                  <a:pt x="342922" y="228601"/>
                </a:cubicBezTo>
                <a:lnTo>
                  <a:pt x="337209" y="228601"/>
                </a:lnTo>
                <a:lnTo>
                  <a:pt x="337209" y="200025"/>
                </a:lnTo>
                <a:cubicBezTo>
                  <a:pt x="337209" y="165307"/>
                  <a:pt x="309063" y="137160"/>
                  <a:pt x="274345" y="137160"/>
                </a:cubicBezTo>
                <a:lnTo>
                  <a:pt x="234342" y="137160"/>
                </a:lnTo>
                <a:lnTo>
                  <a:pt x="227268" y="130087"/>
                </a:lnTo>
                <a:lnTo>
                  <a:pt x="207195" y="110014"/>
                </a:lnTo>
                <a:lnTo>
                  <a:pt x="200052" y="102871"/>
                </a:lnTo>
                <a:lnTo>
                  <a:pt x="200052" y="91442"/>
                </a:lnTo>
                <a:lnTo>
                  <a:pt x="297209" y="91442"/>
                </a:lnTo>
                <a:cubicBezTo>
                  <a:pt x="322428" y="91442"/>
                  <a:pt x="342929" y="70940"/>
                  <a:pt x="342929" y="45721"/>
                </a:cubicBezTo>
                <a:cubicBezTo>
                  <a:pt x="342929" y="20505"/>
                  <a:pt x="322428" y="0"/>
                  <a:pt x="297209" y="0"/>
                </a:cubicBezTo>
                <a:lnTo>
                  <a:pt x="68580" y="0"/>
                </a:lnTo>
                <a:moveTo>
                  <a:pt x="34290" y="285751"/>
                </a:moveTo>
                <a:lnTo>
                  <a:pt x="34290" y="262890"/>
                </a:lnTo>
                <a:lnTo>
                  <a:pt x="57150" y="262890"/>
                </a:lnTo>
                <a:lnTo>
                  <a:pt x="57150" y="285751"/>
                </a:lnTo>
                <a:lnTo>
                  <a:pt x="34290" y="285751"/>
                </a:lnTo>
                <a:moveTo>
                  <a:pt x="171450" y="285751"/>
                </a:moveTo>
                <a:lnTo>
                  <a:pt x="171450" y="262890"/>
                </a:lnTo>
                <a:lnTo>
                  <a:pt x="194310" y="262890"/>
                </a:lnTo>
                <a:lnTo>
                  <a:pt x="194310" y="285751"/>
                </a:lnTo>
                <a:lnTo>
                  <a:pt x="171450" y="285751"/>
                </a:lnTo>
                <a:moveTo>
                  <a:pt x="308610" y="285751"/>
                </a:moveTo>
                <a:lnTo>
                  <a:pt x="308610" y="262890"/>
                </a:lnTo>
                <a:lnTo>
                  <a:pt x="331470" y="262890"/>
                </a:lnTo>
                <a:lnTo>
                  <a:pt x="331470" y="285751"/>
                </a:lnTo>
                <a:lnTo>
                  <a:pt x="308610" y="285751"/>
                </a:lnTo>
                <a:moveTo>
                  <a:pt x="162807" y="154304"/>
                </a:moveTo>
                <a:lnTo>
                  <a:pt x="182880" y="134231"/>
                </a:lnTo>
                <a:lnTo>
                  <a:pt x="202953" y="154304"/>
                </a:lnTo>
                <a:lnTo>
                  <a:pt x="182880" y="174377"/>
                </a:lnTo>
                <a:lnTo>
                  <a:pt x="162807" y="154304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37759" y="4084631"/>
            <a:ext cx="365760" cy="220463"/>
          </a:xfrm>
          <a:custGeom>
            <a:avLst/>
            <a:gdLst/>
            <a:ahLst/>
            <a:cxnLst/>
            <a:rect l="l" t="t" r="r" b="b"/>
            <a:pathLst>
              <a:path w="365760" h="220463">
                <a:moveTo>
                  <a:pt x="155561" y="344"/>
                </a:moveTo>
                <a:lnTo>
                  <a:pt x="126359" y="29549"/>
                </a:lnTo>
                <a:cubicBezTo>
                  <a:pt x="117614" y="31950"/>
                  <a:pt x="109501" y="36350"/>
                  <a:pt x="102643" y="42408"/>
                </a:cubicBezTo>
                <a:lnTo>
                  <a:pt x="87442" y="55953"/>
                </a:lnTo>
                <a:cubicBezTo>
                  <a:pt x="81612" y="61154"/>
                  <a:pt x="74011" y="64011"/>
                  <a:pt x="66181" y="64011"/>
                </a:cubicBezTo>
                <a:lnTo>
                  <a:pt x="54864" y="64011"/>
                </a:lnTo>
                <a:lnTo>
                  <a:pt x="54864" y="137163"/>
                </a:lnTo>
                <a:cubicBezTo>
                  <a:pt x="66521" y="137507"/>
                  <a:pt x="77611" y="142249"/>
                  <a:pt x="85895" y="150536"/>
                </a:cubicBezTo>
                <a:lnTo>
                  <a:pt x="106239" y="170881"/>
                </a:lnTo>
                <a:lnTo>
                  <a:pt x="110240" y="174882"/>
                </a:lnTo>
                <a:lnTo>
                  <a:pt x="110240" y="174882"/>
                </a:lnTo>
                <a:lnTo>
                  <a:pt x="125672" y="190312"/>
                </a:lnTo>
                <a:cubicBezTo>
                  <a:pt x="129216" y="193855"/>
                  <a:pt x="135046" y="193855"/>
                  <a:pt x="138586" y="190312"/>
                </a:cubicBezTo>
                <a:cubicBezTo>
                  <a:pt x="139559" y="189340"/>
                  <a:pt x="140302" y="188198"/>
                  <a:pt x="140701" y="186997"/>
                </a:cubicBezTo>
                <a:cubicBezTo>
                  <a:pt x="142303" y="182596"/>
                  <a:pt x="146015" y="179280"/>
                  <a:pt x="150587" y="178253"/>
                </a:cubicBezTo>
                <a:cubicBezTo>
                  <a:pt x="155159" y="177223"/>
                  <a:pt x="159958" y="178597"/>
                  <a:pt x="163275" y="181968"/>
                </a:cubicBezTo>
                <a:lnTo>
                  <a:pt x="169449" y="188026"/>
                </a:lnTo>
                <a:cubicBezTo>
                  <a:pt x="176080" y="194655"/>
                  <a:pt x="186823" y="194655"/>
                  <a:pt x="193396" y="188026"/>
                </a:cubicBezTo>
                <a:cubicBezTo>
                  <a:pt x="196483" y="184939"/>
                  <a:pt x="198140" y="180998"/>
                  <a:pt x="198311" y="176939"/>
                </a:cubicBezTo>
                <a:cubicBezTo>
                  <a:pt x="198538" y="171910"/>
                  <a:pt x="201512" y="167452"/>
                  <a:pt x="206084" y="165281"/>
                </a:cubicBezTo>
                <a:cubicBezTo>
                  <a:pt x="210656" y="163109"/>
                  <a:pt x="215970" y="163566"/>
                  <a:pt x="220027" y="166480"/>
                </a:cubicBezTo>
                <a:cubicBezTo>
                  <a:pt x="225400" y="170310"/>
                  <a:pt x="232887" y="169796"/>
                  <a:pt x="237686" y="164994"/>
                </a:cubicBezTo>
                <a:cubicBezTo>
                  <a:pt x="243059" y="159622"/>
                  <a:pt x="243059" y="150935"/>
                  <a:pt x="237686" y="145620"/>
                </a:cubicBezTo>
                <a:lnTo>
                  <a:pt x="194365" y="102301"/>
                </a:lnTo>
                <a:lnTo>
                  <a:pt x="173904" y="121162"/>
                </a:lnTo>
                <a:cubicBezTo>
                  <a:pt x="158301" y="135565"/>
                  <a:pt x="134358" y="135792"/>
                  <a:pt x="118470" y="121675"/>
                </a:cubicBezTo>
                <a:cubicBezTo>
                  <a:pt x="100354" y="105560"/>
                  <a:pt x="99951" y="77442"/>
                  <a:pt x="117555" y="60810"/>
                </a:cubicBezTo>
                <a:lnTo>
                  <a:pt x="157617" y="22977"/>
                </a:lnTo>
                <a:cubicBezTo>
                  <a:pt x="173275" y="8232"/>
                  <a:pt x="193963" y="2"/>
                  <a:pt x="215509" y="2"/>
                </a:cubicBezTo>
                <a:cubicBezTo>
                  <a:pt x="236142" y="2"/>
                  <a:pt x="256087" y="7604"/>
                  <a:pt x="271460" y="21261"/>
                </a:cubicBezTo>
                <a:lnTo>
                  <a:pt x="288661" y="36577"/>
                </a:lnTo>
                <a:lnTo>
                  <a:pt x="310892" y="36577"/>
                </a:lnTo>
                <a:lnTo>
                  <a:pt x="333752" y="36577"/>
                </a:lnTo>
                <a:lnTo>
                  <a:pt x="356612" y="36577"/>
                </a:lnTo>
                <a:cubicBezTo>
                  <a:pt x="361641" y="36577"/>
                  <a:pt x="365756" y="40691"/>
                  <a:pt x="365756" y="45722"/>
                </a:cubicBezTo>
                <a:lnTo>
                  <a:pt x="365756" y="164593"/>
                </a:lnTo>
                <a:cubicBezTo>
                  <a:pt x="365756" y="174708"/>
                  <a:pt x="357585" y="182880"/>
                  <a:pt x="347468" y="182880"/>
                </a:cubicBezTo>
                <a:lnTo>
                  <a:pt x="329180" y="182880"/>
                </a:lnTo>
                <a:cubicBezTo>
                  <a:pt x="322436" y="182880"/>
                  <a:pt x="316492" y="179223"/>
                  <a:pt x="313350" y="173736"/>
                </a:cubicBezTo>
                <a:lnTo>
                  <a:pt x="264829" y="173736"/>
                </a:lnTo>
                <a:cubicBezTo>
                  <a:pt x="262886" y="177565"/>
                  <a:pt x="260315" y="181223"/>
                  <a:pt x="257115" y="184424"/>
                </a:cubicBezTo>
                <a:cubicBezTo>
                  <a:pt x="247341" y="194197"/>
                  <a:pt x="233797" y="198026"/>
                  <a:pt x="221109" y="195910"/>
                </a:cubicBezTo>
                <a:cubicBezTo>
                  <a:pt x="219054" y="200081"/>
                  <a:pt x="216252" y="203968"/>
                  <a:pt x="212766" y="207453"/>
                </a:cubicBezTo>
                <a:cubicBezTo>
                  <a:pt x="197163" y="223055"/>
                  <a:pt x="172763" y="224599"/>
                  <a:pt x="155389" y="212083"/>
                </a:cubicBezTo>
                <a:cubicBezTo>
                  <a:pt x="141044" y="223970"/>
                  <a:pt x="119669" y="223227"/>
                  <a:pt x="106242" y="209739"/>
                </a:cubicBezTo>
                <a:lnTo>
                  <a:pt x="90869" y="194309"/>
                </a:lnTo>
                <a:lnTo>
                  <a:pt x="86868" y="190308"/>
                </a:lnTo>
                <a:lnTo>
                  <a:pt x="66521" y="169964"/>
                </a:lnTo>
                <a:cubicBezTo>
                  <a:pt x="63379" y="166820"/>
                  <a:pt x="59264" y="164992"/>
                  <a:pt x="54864" y="164648"/>
                </a:cubicBezTo>
                <a:cubicBezTo>
                  <a:pt x="54864" y="174706"/>
                  <a:pt x="46634" y="182878"/>
                  <a:pt x="36576" y="182878"/>
                </a:cubicBezTo>
                <a:lnTo>
                  <a:pt x="18288" y="182878"/>
                </a:lnTo>
                <a:cubicBezTo>
                  <a:pt x="8171" y="182878"/>
                  <a:pt x="0" y="174706"/>
                  <a:pt x="0" y="164591"/>
                </a:cubicBezTo>
                <a:lnTo>
                  <a:pt x="0" y="45720"/>
                </a:lnTo>
                <a:cubicBezTo>
                  <a:pt x="0" y="40691"/>
                  <a:pt x="4115" y="36575"/>
                  <a:pt x="9144" y="36575"/>
                </a:cubicBezTo>
                <a:lnTo>
                  <a:pt x="32004" y="36575"/>
                </a:lnTo>
                <a:lnTo>
                  <a:pt x="54864" y="36575"/>
                </a:lnTo>
                <a:lnTo>
                  <a:pt x="66181" y="36575"/>
                </a:lnTo>
                <a:cubicBezTo>
                  <a:pt x="67325" y="36575"/>
                  <a:pt x="68408" y="36176"/>
                  <a:pt x="69209" y="35433"/>
                </a:cubicBezTo>
                <a:lnTo>
                  <a:pt x="84355" y="21945"/>
                </a:lnTo>
                <a:cubicBezTo>
                  <a:pt x="100299" y="7829"/>
                  <a:pt x="120818" y="0"/>
                  <a:pt x="142134" y="0"/>
                </a:cubicBezTo>
                <a:lnTo>
                  <a:pt x="148019" y="0"/>
                </a:lnTo>
                <a:cubicBezTo>
                  <a:pt x="150532" y="0"/>
                  <a:pt x="153107" y="115"/>
                  <a:pt x="155561" y="344"/>
                </a:cubicBezTo>
                <a:lnTo>
                  <a:pt x="155561" y="344"/>
                </a:lnTo>
                <a:moveTo>
                  <a:pt x="310896" y="146304"/>
                </a:moveTo>
                <a:lnTo>
                  <a:pt x="310896" y="64007"/>
                </a:lnTo>
                <a:lnTo>
                  <a:pt x="283464" y="64007"/>
                </a:lnTo>
                <a:cubicBezTo>
                  <a:pt x="280092" y="64007"/>
                  <a:pt x="276833" y="62750"/>
                  <a:pt x="274378" y="60521"/>
                </a:cubicBezTo>
                <a:lnTo>
                  <a:pt x="253289" y="41776"/>
                </a:lnTo>
                <a:cubicBezTo>
                  <a:pt x="242887" y="32518"/>
                  <a:pt x="229456" y="27430"/>
                  <a:pt x="215513" y="27430"/>
                </a:cubicBezTo>
                <a:cubicBezTo>
                  <a:pt x="200996" y="27430"/>
                  <a:pt x="187053" y="32975"/>
                  <a:pt x="176479" y="42918"/>
                </a:cubicBezTo>
                <a:lnTo>
                  <a:pt x="136418" y="80751"/>
                </a:lnTo>
                <a:cubicBezTo>
                  <a:pt x="130532" y="86351"/>
                  <a:pt x="130646" y="95782"/>
                  <a:pt x="136703" y="101153"/>
                </a:cubicBezTo>
                <a:cubicBezTo>
                  <a:pt x="142017" y="105897"/>
                  <a:pt x="150075" y="105782"/>
                  <a:pt x="155276" y="100981"/>
                </a:cubicBezTo>
                <a:lnTo>
                  <a:pt x="196366" y="63033"/>
                </a:lnTo>
                <a:cubicBezTo>
                  <a:pt x="201910" y="57889"/>
                  <a:pt x="210597" y="58231"/>
                  <a:pt x="215740" y="63833"/>
                </a:cubicBezTo>
                <a:cubicBezTo>
                  <a:pt x="220882" y="69433"/>
                  <a:pt x="220542" y="78064"/>
                  <a:pt x="214939" y="83207"/>
                </a:cubicBezTo>
                <a:lnTo>
                  <a:pt x="214482" y="83663"/>
                </a:lnTo>
                <a:lnTo>
                  <a:pt x="257001" y="126184"/>
                </a:lnTo>
                <a:cubicBezTo>
                  <a:pt x="262718" y="131898"/>
                  <a:pt x="266431" y="138929"/>
                  <a:pt x="268087" y="146244"/>
                </a:cubicBezTo>
                <a:lnTo>
                  <a:pt x="310834" y="146244"/>
                </a:lnTo>
                <a:lnTo>
                  <a:pt x="310896" y="146304"/>
                </a:lnTo>
                <a:moveTo>
                  <a:pt x="36576" y="155448"/>
                </a:moveTo>
                <a:cubicBezTo>
                  <a:pt x="36576" y="150397"/>
                  <a:pt x="32483" y="146304"/>
                  <a:pt x="27432" y="146304"/>
                </a:cubicBezTo>
                <a:cubicBezTo>
                  <a:pt x="22381" y="146304"/>
                  <a:pt x="18288" y="150398"/>
                  <a:pt x="18288" y="155448"/>
                </a:cubicBezTo>
                <a:cubicBezTo>
                  <a:pt x="18288" y="160499"/>
                  <a:pt x="22381" y="164593"/>
                  <a:pt x="27432" y="164593"/>
                </a:cubicBezTo>
                <a:cubicBezTo>
                  <a:pt x="32483" y="164593"/>
                  <a:pt x="36576" y="160499"/>
                  <a:pt x="36576" y="155448"/>
                </a:cubicBezTo>
                <a:moveTo>
                  <a:pt x="338328" y="164593"/>
                </a:moveTo>
                <a:cubicBezTo>
                  <a:pt x="343379" y="164593"/>
                  <a:pt x="347472" y="160499"/>
                  <a:pt x="347472" y="155448"/>
                </a:cubicBezTo>
                <a:cubicBezTo>
                  <a:pt x="347472" y="150397"/>
                  <a:pt x="343379" y="146304"/>
                  <a:pt x="338328" y="146304"/>
                </a:cubicBezTo>
                <a:cubicBezTo>
                  <a:pt x="333277" y="146304"/>
                  <a:pt x="329184" y="150398"/>
                  <a:pt x="329184" y="155448"/>
                </a:cubicBezTo>
                <a:cubicBezTo>
                  <a:pt x="329184" y="160499"/>
                  <a:pt x="333277" y="164593"/>
                  <a:pt x="338328" y="164593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79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33739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7399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21059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414718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643318" y="2925509"/>
            <a:ext cx="1645920" cy="2746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支持共享账号模式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43318" y="2350691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权限管理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49659" y="2925509"/>
            <a:ext cx="1645920" cy="2746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漏斗分析、流失原因统计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49659" y="2350691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数据分析看板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55999" y="2928385"/>
            <a:ext cx="1645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记录面试官评价与结果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55999" y="2353567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多轮面试记录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62339" y="2928385"/>
            <a:ext cx="1645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从简历筛选到入职的全生命周期管理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62339" y="2353567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候选人全流程跟踪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7701" y="2928385"/>
            <a:ext cx="1645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按月制定计划，设定岗位优先级与目标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7701" y="2353567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招聘计划管理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79" y="1164795"/>
            <a:ext cx="10877759" cy="45719"/>
          </a:xfrm>
          <a:custGeom>
            <a:avLst/>
            <a:gdLst/>
            <a:ahLst/>
            <a:cxnLst/>
            <a:rect l="l" t="t" r="r" b="b"/>
            <a:pathLst>
              <a:path w="10877759" h="45719">
                <a:moveTo>
                  <a:pt x="0" y="0"/>
                </a:moveTo>
                <a:lnTo>
                  <a:pt x="10877759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系统核心功能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智能招聘管理与数据分析平台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666178" y="1716002"/>
            <a:ext cx="320040" cy="365760"/>
          </a:xfrm>
          <a:custGeom>
            <a:avLst/>
            <a:gdLst/>
            <a:ahLst/>
            <a:cxnLst/>
            <a:rect l="l" t="t" r="r" b="b"/>
            <a:pathLst>
              <a:path w="320040" h="365760">
                <a:moveTo>
                  <a:pt x="102870" y="91440"/>
                </a:moveTo>
                <a:lnTo>
                  <a:pt x="102870" y="137160"/>
                </a:lnTo>
                <a:lnTo>
                  <a:pt x="217170" y="137160"/>
                </a:lnTo>
                <a:lnTo>
                  <a:pt x="217170" y="91440"/>
                </a:lnTo>
                <a:cubicBezTo>
                  <a:pt x="217170" y="59864"/>
                  <a:pt x="191595" y="34290"/>
                  <a:pt x="160020" y="34290"/>
                </a:cubicBezTo>
                <a:cubicBezTo>
                  <a:pt x="128445" y="34290"/>
                  <a:pt x="102870" y="59864"/>
                  <a:pt x="102870" y="91440"/>
                </a:cubicBezTo>
                <a:lnTo>
                  <a:pt x="102870" y="91440"/>
                </a:lnTo>
                <a:moveTo>
                  <a:pt x="68581" y="137160"/>
                </a:moveTo>
                <a:lnTo>
                  <a:pt x="68581" y="91440"/>
                </a:lnTo>
                <a:cubicBezTo>
                  <a:pt x="68581" y="40932"/>
                  <a:pt x="109514" y="0"/>
                  <a:pt x="160020" y="0"/>
                </a:cubicBezTo>
                <a:cubicBezTo>
                  <a:pt x="210526" y="0"/>
                  <a:pt x="251459" y="40932"/>
                  <a:pt x="251459" y="91440"/>
                </a:cubicBezTo>
                <a:lnTo>
                  <a:pt x="251459" y="137160"/>
                </a:lnTo>
                <a:lnTo>
                  <a:pt x="274319" y="137160"/>
                </a:lnTo>
                <a:cubicBezTo>
                  <a:pt x="299535" y="137160"/>
                  <a:pt x="320040" y="157661"/>
                  <a:pt x="320040" y="182880"/>
                </a:cubicBezTo>
                <a:lnTo>
                  <a:pt x="320040" y="320040"/>
                </a:lnTo>
                <a:cubicBezTo>
                  <a:pt x="320040" y="345259"/>
                  <a:pt x="299538" y="365760"/>
                  <a:pt x="274319" y="365760"/>
                </a:cubicBezTo>
                <a:lnTo>
                  <a:pt x="45718" y="365760"/>
                </a:lnTo>
                <a:cubicBezTo>
                  <a:pt x="20502" y="365760"/>
                  <a:pt x="-3" y="345259"/>
                  <a:pt x="-3" y="320040"/>
                </a:cubicBezTo>
                <a:lnTo>
                  <a:pt x="-3" y="182880"/>
                </a:lnTo>
                <a:cubicBezTo>
                  <a:pt x="-3" y="157661"/>
                  <a:pt x="20499" y="137160"/>
                  <a:pt x="45718" y="137160"/>
                </a:cubicBezTo>
                <a:lnTo>
                  <a:pt x="68581" y="137160"/>
                </a:lnTo>
                <a:moveTo>
                  <a:pt x="34289" y="182880"/>
                </a:moveTo>
                <a:lnTo>
                  <a:pt x="34289" y="320040"/>
                </a:lnTo>
                <a:cubicBezTo>
                  <a:pt x="34289" y="326327"/>
                  <a:pt x="39432" y="331470"/>
                  <a:pt x="45718" y="331470"/>
                </a:cubicBezTo>
                <a:lnTo>
                  <a:pt x="274319" y="331470"/>
                </a:lnTo>
                <a:cubicBezTo>
                  <a:pt x="280605" y="331470"/>
                  <a:pt x="285748" y="326327"/>
                  <a:pt x="285748" y="320040"/>
                </a:cubicBezTo>
                <a:lnTo>
                  <a:pt x="285748" y="182880"/>
                </a:lnTo>
                <a:cubicBezTo>
                  <a:pt x="285748" y="176593"/>
                  <a:pt x="280605" y="171450"/>
                  <a:pt x="274319" y="171450"/>
                </a:cubicBezTo>
                <a:lnTo>
                  <a:pt x="45718" y="171450"/>
                </a:lnTo>
                <a:cubicBezTo>
                  <a:pt x="39432" y="171450"/>
                  <a:pt x="34289" y="176593"/>
                  <a:pt x="34289" y="182880"/>
                </a:cubicBezTo>
                <a:lnTo>
                  <a:pt x="34289" y="18288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449659" y="1738862"/>
            <a:ext cx="365760" cy="320040"/>
          </a:xfrm>
          <a:custGeom>
            <a:avLst/>
            <a:gdLst/>
            <a:ahLst/>
            <a:cxnLst/>
            <a:rect l="l" t="t" r="r" b="b"/>
            <a:pathLst>
              <a:path w="365760" h="320040">
                <a:moveTo>
                  <a:pt x="297180" y="34289"/>
                </a:moveTo>
                <a:cubicBezTo>
                  <a:pt x="303467" y="34289"/>
                  <a:pt x="308610" y="39432"/>
                  <a:pt x="308610" y="45718"/>
                </a:cubicBezTo>
                <a:cubicBezTo>
                  <a:pt x="308610" y="52003"/>
                  <a:pt x="303467" y="57146"/>
                  <a:pt x="297180" y="57146"/>
                </a:cubicBezTo>
                <a:lnTo>
                  <a:pt x="68580" y="57146"/>
                </a:lnTo>
                <a:cubicBezTo>
                  <a:pt x="62293" y="57146"/>
                  <a:pt x="57150" y="52003"/>
                  <a:pt x="57150" y="45718"/>
                </a:cubicBezTo>
                <a:cubicBezTo>
                  <a:pt x="57150" y="39432"/>
                  <a:pt x="62293" y="34289"/>
                  <a:pt x="68580" y="34289"/>
                </a:cubicBezTo>
                <a:lnTo>
                  <a:pt x="297180" y="34289"/>
                </a:lnTo>
                <a:moveTo>
                  <a:pt x="68580" y="0"/>
                </a:moveTo>
                <a:cubicBezTo>
                  <a:pt x="43361" y="0"/>
                  <a:pt x="22860" y="20502"/>
                  <a:pt x="22860" y="45721"/>
                </a:cubicBezTo>
                <a:cubicBezTo>
                  <a:pt x="22860" y="70937"/>
                  <a:pt x="43361" y="91442"/>
                  <a:pt x="68580" y="91442"/>
                </a:cubicBezTo>
                <a:lnTo>
                  <a:pt x="165737" y="91442"/>
                </a:lnTo>
                <a:lnTo>
                  <a:pt x="165737" y="102871"/>
                </a:lnTo>
                <a:lnTo>
                  <a:pt x="158663" y="109943"/>
                </a:lnTo>
                <a:lnTo>
                  <a:pt x="138590" y="130016"/>
                </a:lnTo>
                <a:lnTo>
                  <a:pt x="131447" y="137160"/>
                </a:lnTo>
                <a:lnTo>
                  <a:pt x="91444" y="137160"/>
                </a:lnTo>
                <a:cubicBezTo>
                  <a:pt x="56726" y="137160"/>
                  <a:pt x="28580" y="165307"/>
                  <a:pt x="28580" y="200025"/>
                </a:cubicBezTo>
                <a:lnTo>
                  <a:pt x="28580" y="228601"/>
                </a:lnTo>
                <a:lnTo>
                  <a:pt x="22867" y="228601"/>
                </a:lnTo>
                <a:cubicBezTo>
                  <a:pt x="10223" y="228601"/>
                  <a:pt x="7" y="238817"/>
                  <a:pt x="7" y="251462"/>
                </a:cubicBezTo>
                <a:lnTo>
                  <a:pt x="7" y="297183"/>
                </a:lnTo>
                <a:cubicBezTo>
                  <a:pt x="7" y="309828"/>
                  <a:pt x="10223" y="320043"/>
                  <a:pt x="22867" y="320043"/>
                </a:cubicBezTo>
                <a:lnTo>
                  <a:pt x="68587" y="320043"/>
                </a:lnTo>
                <a:cubicBezTo>
                  <a:pt x="81232" y="320043"/>
                  <a:pt x="91447" y="309828"/>
                  <a:pt x="91447" y="297183"/>
                </a:cubicBezTo>
                <a:lnTo>
                  <a:pt x="91447" y="251462"/>
                </a:lnTo>
                <a:cubicBezTo>
                  <a:pt x="91447" y="238817"/>
                  <a:pt x="81232" y="228601"/>
                  <a:pt x="68587" y="228601"/>
                </a:cubicBezTo>
                <a:lnTo>
                  <a:pt x="62874" y="228601"/>
                </a:lnTo>
                <a:lnTo>
                  <a:pt x="62874" y="200025"/>
                </a:lnTo>
                <a:cubicBezTo>
                  <a:pt x="62874" y="184238"/>
                  <a:pt x="75661" y="171449"/>
                  <a:pt x="91451" y="171449"/>
                </a:cubicBezTo>
                <a:lnTo>
                  <a:pt x="131458" y="171449"/>
                </a:lnTo>
                <a:lnTo>
                  <a:pt x="138532" y="178522"/>
                </a:lnTo>
                <a:lnTo>
                  <a:pt x="158604" y="198595"/>
                </a:lnTo>
                <a:lnTo>
                  <a:pt x="165748" y="205738"/>
                </a:lnTo>
                <a:lnTo>
                  <a:pt x="165748" y="228598"/>
                </a:lnTo>
                <a:lnTo>
                  <a:pt x="160034" y="228598"/>
                </a:lnTo>
                <a:cubicBezTo>
                  <a:pt x="147390" y="228598"/>
                  <a:pt x="137174" y="238814"/>
                  <a:pt x="137174" y="251459"/>
                </a:cubicBezTo>
                <a:lnTo>
                  <a:pt x="137174" y="297180"/>
                </a:lnTo>
                <a:cubicBezTo>
                  <a:pt x="137174" y="309825"/>
                  <a:pt x="147390" y="320040"/>
                  <a:pt x="160034" y="320040"/>
                </a:cubicBezTo>
                <a:lnTo>
                  <a:pt x="205754" y="320040"/>
                </a:lnTo>
                <a:cubicBezTo>
                  <a:pt x="218399" y="320040"/>
                  <a:pt x="228614" y="309825"/>
                  <a:pt x="228614" y="297180"/>
                </a:cubicBezTo>
                <a:lnTo>
                  <a:pt x="228614" y="251459"/>
                </a:lnTo>
                <a:cubicBezTo>
                  <a:pt x="228614" y="238814"/>
                  <a:pt x="218399" y="228598"/>
                  <a:pt x="205754" y="228598"/>
                </a:cubicBezTo>
                <a:lnTo>
                  <a:pt x="200041" y="228598"/>
                </a:lnTo>
                <a:lnTo>
                  <a:pt x="200041" y="205738"/>
                </a:lnTo>
                <a:lnTo>
                  <a:pt x="207115" y="198665"/>
                </a:lnTo>
                <a:lnTo>
                  <a:pt x="227188" y="178592"/>
                </a:lnTo>
                <a:lnTo>
                  <a:pt x="234331" y="171449"/>
                </a:lnTo>
                <a:lnTo>
                  <a:pt x="274338" y="171449"/>
                </a:lnTo>
                <a:cubicBezTo>
                  <a:pt x="290124" y="171449"/>
                  <a:pt x="302915" y="184238"/>
                  <a:pt x="302915" y="200025"/>
                </a:cubicBezTo>
                <a:lnTo>
                  <a:pt x="302915" y="228601"/>
                </a:lnTo>
                <a:lnTo>
                  <a:pt x="297202" y="228601"/>
                </a:lnTo>
                <a:cubicBezTo>
                  <a:pt x="284557" y="228601"/>
                  <a:pt x="274342" y="238817"/>
                  <a:pt x="274342" y="251462"/>
                </a:cubicBezTo>
                <a:lnTo>
                  <a:pt x="274342" y="297183"/>
                </a:lnTo>
                <a:cubicBezTo>
                  <a:pt x="274342" y="309828"/>
                  <a:pt x="284557" y="320043"/>
                  <a:pt x="297202" y="320043"/>
                </a:cubicBezTo>
                <a:lnTo>
                  <a:pt x="342922" y="320043"/>
                </a:lnTo>
                <a:cubicBezTo>
                  <a:pt x="355566" y="320043"/>
                  <a:pt x="365782" y="309828"/>
                  <a:pt x="365782" y="297183"/>
                </a:cubicBezTo>
                <a:lnTo>
                  <a:pt x="365782" y="251462"/>
                </a:lnTo>
                <a:cubicBezTo>
                  <a:pt x="365782" y="238817"/>
                  <a:pt x="355566" y="228601"/>
                  <a:pt x="342922" y="228601"/>
                </a:cubicBezTo>
                <a:lnTo>
                  <a:pt x="337209" y="228601"/>
                </a:lnTo>
                <a:lnTo>
                  <a:pt x="337209" y="200025"/>
                </a:lnTo>
                <a:cubicBezTo>
                  <a:pt x="337209" y="165307"/>
                  <a:pt x="309063" y="137160"/>
                  <a:pt x="274345" y="137160"/>
                </a:cubicBezTo>
                <a:lnTo>
                  <a:pt x="234342" y="137160"/>
                </a:lnTo>
                <a:lnTo>
                  <a:pt x="227268" y="130087"/>
                </a:lnTo>
                <a:lnTo>
                  <a:pt x="207195" y="110014"/>
                </a:lnTo>
                <a:lnTo>
                  <a:pt x="200052" y="102871"/>
                </a:lnTo>
                <a:lnTo>
                  <a:pt x="200052" y="91442"/>
                </a:lnTo>
                <a:lnTo>
                  <a:pt x="297209" y="91442"/>
                </a:lnTo>
                <a:cubicBezTo>
                  <a:pt x="322428" y="91442"/>
                  <a:pt x="342929" y="70940"/>
                  <a:pt x="342929" y="45721"/>
                </a:cubicBezTo>
                <a:cubicBezTo>
                  <a:pt x="342929" y="20505"/>
                  <a:pt x="322428" y="0"/>
                  <a:pt x="297209" y="0"/>
                </a:cubicBezTo>
                <a:lnTo>
                  <a:pt x="68580" y="0"/>
                </a:lnTo>
                <a:moveTo>
                  <a:pt x="34290" y="285751"/>
                </a:moveTo>
                <a:lnTo>
                  <a:pt x="34290" y="262890"/>
                </a:lnTo>
                <a:lnTo>
                  <a:pt x="57150" y="262890"/>
                </a:lnTo>
                <a:lnTo>
                  <a:pt x="57150" y="285751"/>
                </a:lnTo>
                <a:lnTo>
                  <a:pt x="34290" y="285751"/>
                </a:lnTo>
                <a:moveTo>
                  <a:pt x="171450" y="285751"/>
                </a:moveTo>
                <a:lnTo>
                  <a:pt x="171450" y="262890"/>
                </a:lnTo>
                <a:lnTo>
                  <a:pt x="194310" y="262890"/>
                </a:lnTo>
                <a:lnTo>
                  <a:pt x="194310" y="285751"/>
                </a:lnTo>
                <a:lnTo>
                  <a:pt x="171450" y="285751"/>
                </a:lnTo>
                <a:moveTo>
                  <a:pt x="308610" y="285751"/>
                </a:moveTo>
                <a:lnTo>
                  <a:pt x="308610" y="262890"/>
                </a:lnTo>
                <a:lnTo>
                  <a:pt x="331470" y="262890"/>
                </a:lnTo>
                <a:lnTo>
                  <a:pt x="331470" y="285751"/>
                </a:lnTo>
                <a:lnTo>
                  <a:pt x="308610" y="285751"/>
                </a:lnTo>
                <a:moveTo>
                  <a:pt x="162807" y="154304"/>
                </a:moveTo>
                <a:lnTo>
                  <a:pt x="182880" y="134231"/>
                </a:lnTo>
                <a:lnTo>
                  <a:pt x="202953" y="154304"/>
                </a:lnTo>
                <a:lnTo>
                  <a:pt x="182880" y="174377"/>
                </a:lnTo>
                <a:lnTo>
                  <a:pt x="162807" y="154304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01719" y="1716002"/>
            <a:ext cx="274320" cy="365760"/>
          </a:xfrm>
          <a:custGeom>
            <a:avLst/>
            <a:gdLst/>
            <a:ahLst/>
            <a:cxnLst/>
            <a:rect l="l" t="t" r="r" b="b"/>
            <a:pathLst>
              <a:path w="274320" h="365760">
                <a:moveTo>
                  <a:pt x="200026" y="45720"/>
                </a:moveTo>
                <a:lnTo>
                  <a:pt x="228602" y="45720"/>
                </a:lnTo>
                <a:cubicBezTo>
                  <a:pt x="253820" y="45720"/>
                  <a:pt x="274323" y="66221"/>
                  <a:pt x="274323" y="91440"/>
                </a:cubicBezTo>
                <a:lnTo>
                  <a:pt x="274323" y="320040"/>
                </a:lnTo>
                <a:cubicBezTo>
                  <a:pt x="274323" y="345259"/>
                  <a:pt x="253820" y="365760"/>
                  <a:pt x="228602" y="365760"/>
                </a:cubicBezTo>
                <a:lnTo>
                  <a:pt x="45721" y="365760"/>
                </a:lnTo>
                <a:cubicBezTo>
                  <a:pt x="20503" y="365760"/>
                  <a:pt x="0" y="345259"/>
                  <a:pt x="0" y="320040"/>
                </a:cubicBezTo>
                <a:lnTo>
                  <a:pt x="0" y="91440"/>
                </a:lnTo>
                <a:cubicBezTo>
                  <a:pt x="0" y="66221"/>
                  <a:pt x="20503" y="45720"/>
                  <a:pt x="45721" y="45720"/>
                </a:cubicBezTo>
                <a:lnTo>
                  <a:pt x="74297" y="45720"/>
                </a:lnTo>
                <a:lnTo>
                  <a:pt x="81155" y="45720"/>
                </a:lnTo>
                <a:cubicBezTo>
                  <a:pt x="86441" y="19645"/>
                  <a:pt x="109517" y="0"/>
                  <a:pt x="137163" y="0"/>
                </a:cubicBezTo>
                <a:cubicBezTo>
                  <a:pt x="164809" y="0"/>
                  <a:pt x="187885" y="19645"/>
                  <a:pt x="193171" y="45720"/>
                </a:cubicBezTo>
                <a:lnTo>
                  <a:pt x="200026" y="45720"/>
                </a:lnTo>
                <a:moveTo>
                  <a:pt x="45721" y="80010"/>
                </a:moveTo>
                <a:cubicBezTo>
                  <a:pt x="39434" y="80010"/>
                  <a:pt x="34290" y="85153"/>
                  <a:pt x="34290" y="91440"/>
                </a:cubicBezTo>
                <a:lnTo>
                  <a:pt x="34290" y="320040"/>
                </a:lnTo>
                <a:cubicBezTo>
                  <a:pt x="34290" y="326327"/>
                  <a:pt x="39434" y="331470"/>
                  <a:pt x="45721" y="331470"/>
                </a:cubicBezTo>
                <a:lnTo>
                  <a:pt x="228602" y="331470"/>
                </a:lnTo>
                <a:cubicBezTo>
                  <a:pt x="234889" y="331470"/>
                  <a:pt x="240033" y="326327"/>
                  <a:pt x="240033" y="320040"/>
                </a:cubicBezTo>
                <a:lnTo>
                  <a:pt x="240033" y="91440"/>
                </a:lnTo>
                <a:cubicBezTo>
                  <a:pt x="240033" y="85153"/>
                  <a:pt x="234889" y="80010"/>
                  <a:pt x="228602" y="80010"/>
                </a:cubicBezTo>
                <a:lnTo>
                  <a:pt x="217171" y="80010"/>
                </a:lnTo>
                <a:lnTo>
                  <a:pt x="217171" y="97157"/>
                </a:lnTo>
                <a:cubicBezTo>
                  <a:pt x="217171" y="106659"/>
                  <a:pt x="209528" y="114304"/>
                  <a:pt x="200026" y="114304"/>
                </a:cubicBezTo>
                <a:lnTo>
                  <a:pt x="137160" y="114304"/>
                </a:lnTo>
                <a:lnTo>
                  <a:pt x="74294" y="114304"/>
                </a:lnTo>
                <a:cubicBezTo>
                  <a:pt x="64792" y="114304"/>
                  <a:pt x="57149" y="106659"/>
                  <a:pt x="57149" y="97160"/>
                </a:cubicBezTo>
                <a:lnTo>
                  <a:pt x="57149" y="80017"/>
                </a:lnTo>
                <a:lnTo>
                  <a:pt x="45721" y="80010"/>
                </a:lnTo>
                <a:moveTo>
                  <a:pt x="137160" y="74297"/>
                </a:moveTo>
                <a:cubicBezTo>
                  <a:pt x="146630" y="74297"/>
                  <a:pt x="154305" y="66619"/>
                  <a:pt x="154305" y="57154"/>
                </a:cubicBezTo>
                <a:cubicBezTo>
                  <a:pt x="154305" y="47684"/>
                  <a:pt x="146630" y="40010"/>
                  <a:pt x="137160" y="40010"/>
                </a:cubicBezTo>
                <a:cubicBezTo>
                  <a:pt x="127690" y="40010"/>
                  <a:pt x="120015" y="47688"/>
                  <a:pt x="120015" y="57157"/>
                </a:cubicBezTo>
                <a:cubicBezTo>
                  <a:pt x="120015" y="66627"/>
                  <a:pt x="127690" y="74304"/>
                  <a:pt x="137160" y="74304"/>
                </a:cubicBezTo>
                <a:lnTo>
                  <a:pt x="137160" y="74297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062339" y="1716051"/>
            <a:ext cx="365760" cy="365662"/>
          </a:xfrm>
          <a:custGeom>
            <a:avLst/>
            <a:gdLst/>
            <a:ahLst/>
            <a:cxnLst/>
            <a:rect l="l" t="t" r="r" b="b"/>
            <a:pathLst>
              <a:path w="365760" h="365662">
                <a:moveTo>
                  <a:pt x="262864" y="148576"/>
                </a:moveTo>
                <a:cubicBezTo>
                  <a:pt x="262864" y="85455"/>
                  <a:pt x="211695" y="34288"/>
                  <a:pt x="148575" y="34288"/>
                </a:cubicBezTo>
                <a:cubicBezTo>
                  <a:pt x="85456" y="34288"/>
                  <a:pt x="34286" y="85455"/>
                  <a:pt x="34286" y="148576"/>
                </a:cubicBezTo>
                <a:cubicBezTo>
                  <a:pt x="34286" y="211696"/>
                  <a:pt x="85456" y="262863"/>
                  <a:pt x="148575" y="262863"/>
                </a:cubicBezTo>
                <a:cubicBezTo>
                  <a:pt x="211695" y="262863"/>
                  <a:pt x="262864" y="211696"/>
                  <a:pt x="262864" y="148576"/>
                </a:cubicBezTo>
                <a:lnTo>
                  <a:pt x="262864" y="148576"/>
                </a:lnTo>
                <a:moveTo>
                  <a:pt x="240791" y="265079"/>
                </a:moveTo>
                <a:cubicBezTo>
                  <a:pt x="215506" y="285150"/>
                  <a:pt x="183432" y="297151"/>
                  <a:pt x="148575" y="297151"/>
                </a:cubicBezTo>
                <a:cubicBezTo>
                  <a:pt x="66502" y="297151"/>
                  <a:pt x="0" y="230649"/>
                  <a:pt x="0" y="148576"/>
                </a:cubicBezTo>
                <a:cubicBezTo>
                  <a:pt x="0" y="66503"/>
                  <a:pt x="66503" y="0"/>
                  <a:pt x="148575" y="0"/>
                </a:cubicBezTo>
                <a:cubicBezTo>
                  <a:pt x="230648" y="0"/>
                  <a:pt x="297151" y="66503"/>
                  <a:pt x="297151" y="148576"/>
                </a:cubicBezTo>
                <a:cubicBezTo>
                  <a:pt x="297151" y="183434"/>
                  <a:pt x="285150" y="215506"/>
                  <a:pt x="265077" y="240792"/>
                </a:cubicBezTo>
                <a:lnTo>
                  <a:pt x="360723" y="336438"/>
                </a:lnTo>
                <a:cubicBezTo>
                  <a:pt x="367439" y="343152"/>
                  <a:pt x="367439" y="354012"/>
                  <a:pt x="360723" y="360652"/>
                </a:cubicBezTo>
                <a:cubicBezTo>
                  <a:pt x="354008" y="367296"/>
                  <a:pt x="343152" y="367366"/>
                  <a:pt x="336510" y="360652"/>
                </a:cubicBezTo>
                <a:lnTo>
                  <a:pt x="240791" y="265079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50561" y="1716002"/>
            <a:ext cx="320040" cy="365760"/>
          </a:xfrm>
          <a:custGeom>
            <a:avLst/>
            <a:gdLst/>
            <a:ahLst/>
            <a:cxnLst/>
            <a:rect l="l" t="t" r="r" b="b"/>
            <a:pathLst>
              <a:path w="320040" h="365760">
                <a:moveTo>
                  <a:pt x="108586" y="17147"/>
                </a:moveTo>
                <a:cubicBezTo>
                  <a:pt x="108586" y="7644"/>
                  <a:pt x="100944" y="4"/>
                  <a:pt x="91442" y="4"/>
                </a:cubicBezTo>
                <a:cubicBezTo>
                  <a:pt x="81940" y="4"/>
                  <a:pt x="74297" y="7648"/>
                  <a:pt x="74297" y="17150"/>
                </a:cubicBezTo>
                <a:lnTo>
                  <a:pt x="74297" y="45727"/>
                </a:lnTo>
                <a:lnTo>
                  <a:pt x="45721" y="45727"/>
                </a:lnTo>
                <a:cubicBezTo>
                  <a:pt x="20505" y="45727"/>
                  <a:pt x="0" y="66228"/>
                  <a:pt x="0" y="91447"/>
                </a:cubicBezTo>
                <a:lnTo>
                  <a:pt x="0" y="102877"/>
                </a:lnTo>
                <a:lnTo>
                  <a:pt x="0" y="137167"/>
                </a:lnTo>
                <a:lnTo>
                  <a:pt x="0" y="320047"/>
                </a:lnTo>
                <a:cubicBezTo>
                  <a:pt x="0" y="345266"/>
                  <a:pt x="20502" y="365767"/>
                  <a:pt x="45721" y="365767"/>
                </a:cubicBezTo>
                <a:lnTo>
                  <a:pt x="274322" y="365767"/>
                </a:lnTo>
                <a:cubicBezTo>
                  <a:pt x="299538" y="365767"/>
                  <a:pt x="320043" y="345266"/>
                  <a:pt x="320043" y="320047"/>
                </a:cubicBezTo>
                <a:lnTo>
                  <a:pt x="320043" y="137167"/>
                </a:lnTo>
                <a:lnTo>
                  <a:pt x="320043" y="102877"/>
                </a:lnTo>
                <a:lnTo>
                  <a:pt x="320043" y="91447"/>
                </a:lnTo>
                <a:cubicBezTo>
                  <a:pt x="320043" y="66228"/>
                  <a:pt x="299541" y="45727"/>
                  <a:pt x="274322" y="45727"/>
                </a:cubicBezTo>
                <a:lnTo>
                  <a:pt x="245746" y="45727"/>
                </a:lnTo>
                <a:lnTo>
                  <a:pt x="245746" y="17154"/>
                </a:lnTo>
                <a:cubicBezTo>
                  <a:pt x="245746" y="7652"/>
                  <a:pt x="238103" y="11"/>
                  <a:pt x="228601" y="11"/>
                </a:cubicBezTo>
                <a:cubicBezTo>
                  <a:pt x="219099" y="11"/>
                  <a:pt x="211457" y="7655"/>
                  <a:pt x="211457" y="17158"/>
                </a:cubicBezTo>
                <a:lnTo>
                  <a:pt x="211457" y="45734"/>
                </a:lnTo>
                <a:lnTo>
                  <a:pt x="108586" y="45734"/>
                </a:lnTo>
                <a:lnTo>
                  <a:pt x="108586" y="17147"/>
                </a:lnTo>
                <a:moveTo>
                  <a:pt x="34289" y="137160"/>
                </a:moveTo>
                <a:lnTo>
                  <a:pt x="285748" y="137160"/>
                </a:lnTo>
                <a:lnTo>
                  <a:pt x="285748" y="320040"/>
                </a:lnTo>
                <a:cubicBezTo>
                  <a:pt x="285748" y="326327"/>
                  <a:pt x="280605" y="331470"/>
                  <a:pt x="274319" y="331470"/>
                </a:cubicBezTo>
                <a:lnTo>
                  <a:pt x="45718" y="331470"/>
                </a:lnTo>
                <a:cubicBezTo>
                  <a:pt x="39432" y="331470"/>
                  <a:pt x="34289" y="326327"/>
                  <a:pt x="34289" y="320040"/>
                </a:cubicBezTo>
                <a:lnTo>
                  <a:pt x="34289" y="13716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6074" y="1538836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1828800" h="1828800">
                <a:moveTo>
                  <a:pt x="0" y="914400"/>
                </a:moveTo>
                <a:cubicBezTo>
                  <a:pt x="0" y="409395"/>
                  <a:pt x="409395" y="0"/>
                  <a:pt x="914400" y="0"/>
                </a:cubicBezTo>
                <a:cubicBezTo>
                  <a:pt x="1419405" y="0"/>
                  <a:pt x="1828800" y="409395"/>
                  <a:pt x="1828800" y="914400"/>
                </a:cubicBezTo>
                <a:cubicBezTo>
                  <a:pt x="1828800" y="1419405"/>
                  <a:pt x="1419405" y="1828800"/>
                  <a:pt x="914400" y="1828800"/>
                </a:cubicBezTo>
                <a:cubicBezTo>
                  <a:pt x="409395" y="1828800"/>
                  <a:pt x="0" y="1419405"/>
                  <a:pt x="0" y="91440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28759" y="1538836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1828800" h="1828800">
                <a:moveTo>
                  <a:pt x="0" y="914400"/>
                </a:moveTo>
                <a:cubicBezTo>
                  <a:pt x="0" y="409395"/>
                  <a:pt x="409395" y="0"/>
                  <a:pt x="914400" y="0"/>
                </a:cubicBezTo>
                <a:cubicBezTo>
                  <a:pt x="1419405" y="0"/>
                  <a:pt x="1828800" y="409395"/>
                  <a:pt x="1828800" y="914400"/>
                </a:cubicBezTo>
                <a:cubicBezTo>
                  <a:pt x="1828800" y="1419405"/>
                  <a:pt x="1419405" y="1828800"/>
                  <a:pt x="914400" y="1828800"/>
                </a:cubicBezTo>
                <a:cubicBezTo>
                  <a:pt x="409395" y="1828800"/>
                  <a:pt x="0" y="1419405"/>
                  <a:pt x="0" y="91440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43388" y="1538836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1828800" h="1828800">
                <a:moveTo>
                  <a:pt x="0" y="914400"/>
                </a:moveTo>
                <a:cubicBezTo>
                  <a:pt x="0" y="409395"/>
                  <a:pt x="409395" y="0"/>
                  <a:pt x="914400" y="0"/>
                </a:cubicBezTo>
                <a:cubicBezTo>
                  <a:pt x="1419405" y="0"/>
                  <a:pt x="1828800" y="409395"/>
                  <a:pt x="1828800" y="914400"/>
                </a:cubicBezTo>
                <a:cubicBezTo>
                  <a:pt x="1828800" y="1419405"/>
                  <a:pt x="1419405" y="1828800"/>
                  <a:pt x="914400" y="1828800"/>
                </a:cubicBezTo>
                <a:cubicBezTo>
                  <a:pt x="409395" y="1828800"/>
                  <a:pt x="0" y="1419405"/>
                  <a:pt x="0" y="91440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智能招聘管理与数据分析平台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34399" y="4199241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权限：所有用户共享权限和数据</a:t>
            </a:r>
            <a:endParaRPr lang="en-US" sz="1300" dirty="0"/>
          </a:p>
          <a:p>
            <a:pPr algn="ctr"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优势：快速上手，无需复杂权限配置</a:t>
            </a:r>
            <a:endParaRPr lang="en-US" sz="1300" dirty="0"/>
          </a:p>
          <a:p>
            <a:pPr algn="ctr"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适用场景：小型HR团队协同办公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34399" y="357897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权限与适用场景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63099" y="1904596"/>
            <a:ext cx="960120" cy="1097280"/>
          </a:xfrm>
          <a:custGeom>
            <a:avLst/>
            <a:gdLst/>
            <a:ahLst/>
            <a:cxnLst/>
            <a:rect l="l" t="t" r="r" b="b"/>
            <a:pathLst>
              <a:path w="960120" h="1097280">
                <a:moveTo>
                  <a:pt x="651509" y="274320"/>
                </a:moveTo>
                <a:cubicBezTo>
                  <a:pt x="651509" y="179636"/>
                  <a:pt x="574747" y="102870"/>
                  <a:pt x="480060" y="102870"/>
                </a:cubicBezTo>
                <a:cubicBezTo>
                  <a:pt x="385373" y="102870"/>
                  <a:pt x="308611" y="179636"/>
                  <a:pt x="308611" y="274320"/>
                </a:cubicBezTo>
                <a:cubicBezTo>
                  <a:pt x="308611" y="369004"/>
                  <a:pt x="385373" y="445770"/>
                  <a:pt x="480060" y="445770"/>
                </a:cubicBezTo>
                <a:cubicBezTo>
                  <a:pt x="574747" y="445770"/>
                  <a:pt x="651509" y="369004"/>
                  <a:pt x="651509" y="274320"/>
                </a:cubicBezTo>
                <a:lnTo>
                  <a:pt x="651509" y="274320"/>
                </a:lnTo>
                <a:moveTo>
                  <a:pt x="205744" y="274320"/>
                </a:moveTo>
                <a:cubicBezTo>
                  <a:pt x="205744" y="122819"/>
                  <a:pt x="328563" y="0"/>
                  <a:pt x="480060" y="0"/>
                </a:cubicBezTo>
                <a:cubicBezTo>
                  <a:pt x="631567" y="0"/>
                  <a:pt x="754376" y="122819"/>
                  <a:pt x="754376" y="274320"/>
                </a:cubicBezTo>
                <a:cubicBezTo>
                  <a:pt x="754376" y="425821"/>
                  <a:pt x="631557" y="548640"/>
                  <a:pt x="480060" y="548640"/>
                </a:cubicBezTo>
                <a:cubicBezTo>
                  <a:pt x="328553" y="548640"/>
                  <a:pt x="205744" y="425821"/>
                  <a:pt x="205744" y="274320"/>
                </a:cubicBezTo>
                <a:lnTo>
                  <a:pt x="205744" y="274320"/>
                </a:lnTo>
                <a:moveTo>
                  <a:pt x="105652" y="994410"/>
                </a:moveTo>
                <a:lnTo>
                  <a:pt x="854670" y="994410"/>
                </a:lnTo>
                <a:cubicBezTo>
                  <a:pt x="835592" y="858753"/>
                  <a:pt x="719015" y="754380"/>
                  <a:pt x="578203" y="754380"/>
                </a:cubicBezTo>
                <a:lnTo>
                  <a:pt x="382320" y="754380"/>
                </a:lnTo>
                <a:cubicBezTo>
                  <a:pt x="241518" y="754380"/>
                  <a:pt x="124931" y="858753"/>
                  <a:pt x="105853" y="994410"/>
                </a:cubicBezTo>
                <a:lnTo>
                  <a:pt x="105652" y="994410"/>
                </a:lnTo>
                <a:moveTo>
                  <a:pt x="0" y="1033627"/>
                </a:moveTo>
                <a:cubicBezTo>
                  <a:pt x="0" y="822532"/>
                  <a:pt x="171017" y="651510"/>
                  <a:pt x="382118" y="651510"/>
                </a:cubicBezTo>
                <a:lnTo>
                  <a:pt x="578002" y="651510"/>
                </a:lnTo>
                <a:cubicBezTo>
                  <a:pt x="789103" y="651510"/>
                  <a:pt x="960120" y="822532"/>
                  <a:pt x="960120" y="1033627"/>
                </a:cubicBezTo>
                <a:cubicBezTo>
                  <a:pt x="960120" y="1068773"/>
                  <a:pt x="931614" y="1097280"/>
                  <a:pt x="896474" y="1097280"/>
                </a:cubicBezTo>
                <a:lnTo>
                  <a:pt x="63656" y="1097280"/>
                </a:lnTo>
                <a:cubicBezTo>
                  <a:pt x="28506" y="1097280"/>
                  <a:pt x="10" y="1068773"/>
                  <a:pt x="10" y="1033627"/>
                </a:cubicBezTo>
                <a:lnTo>
                  <a:pt x="0" y="1033627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41714" y="4199241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账号：zenflux</a:t>
            </a:r>
            <a:endParaRPr lang="en-US" sz="1300" dirty="0"/>
          </a:p>
          <a:p>
            <a:pPr algn="ctr"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密码：hrhr123456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41714" y="357897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账号信息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70414" y="1904596"/>
            <a:ext cx="960120" cy="1097280"/>
          </a:xfrm>
          <a:custGeom>
            <a:avLst/>
            <a:gdLst/>
            <a:ahLst/>
            <a:cxnLst/>
            <a:rect l="l" t="t" r="r" b="b"/>
            <a:pathLst>
              <a:path w="960120" h="1097280">
                <a:moveTo>
                  <a:pt x="308611" y="274320"/>
                </a:moveTo>
                <a:lnTo>
                  <a:pt x="308611" y="411480"/>
                </a:lnTo>
                <a:lnTo>
                  <a:pt x="651509" y="411480"/>
                </a:lnTo>
                <a:lnTo>
                  <a:pt x="651509" y="274320"/>
                </a:lnTo>
                <a:cubicBezTo>
                  <a:pt x="651509" y="179592"/>
                  <a:pt x="574785" y="102870"/>
                  <a:pt x="480060" y="102870"/>
                </a:cubicBezTo>
                <a:cubicBezTo>
                  <a:pt x="385334" y="102870"/>
                  <a:pt x="308611" y="179592"/>
                  <a:pt x="308611" y="274320"/>
                </a:cubicBezTo>
                <a:lnTo>
                  <a:pt x="308611" y="274320"/>
                </a:lnTo>
                <a:moveTo>
                  <a:pt x="205744" y="411480"/>
                </a:moveTo>
                <a:lnTo>
                  <a:pt x="205744" y="274320"/>
                </a:lnTo>
                <a:cubicBezTo>
                  <a:pt x="205744" y="122797"/>
                  <a:pt x="328543" y="0"/>
                  <a:pt x="480060" y="0"/>
                </a:cubicBezTo>
                <a:cubicBezTo>
                  <a:pt x="631577" y="0"/>
                  <a:pt x="754376" y="122797"/>
                  <a:pt x="754376" y="274320"/>
                </a:cubicBezTo>
                <a:lnTo>
                  <a:pt x="754376" y="411480"/>
                </a:lnTo>
                <a:lnTo>
                  <a:pt x="822957" y="411480"/>
                </a:lnTo>
                <a:cubicBezTo>
                  <a:pt x="898605" y="411480"/>
                  <a:pt x="960120" y="472983"/>
                  <a:pt x="960120" y="548640"/>
                </a:cubicBezTo>
                <a:lnTo>
                  <a:pt x="960120" y="960120"/>
                </a:lnTo>
                <a:cubicBezTo>
                  <a:pt x="960120" y="1035777"/>
                  <a:pt x="898615" y="1097280"/>
                  <a:pt x="822957" y="1097280"/>
                </a:cubicBezTo>
                <a:lnTo>
                  <a:pt x="137153" y="1097280"/>
                </a:lnTo>
                <a:cubicBezTo>
                  <a:pt x="61505" y="1097280"/>
                  <a:pt x="-10" y="1035777"/>
                  <a:pt x="-10" y="960120"/>
                </a:cubicBezTo>
                <a:lnTo>
                  <a:pt x="-10" y="548640"/>
                </a:lnTo>
                <a:cubicBezTo>
                  <a:pt x="-10" y="472983"/>
                  <a:pt x="61496" y="411480"/>
                  <a:pt x="137153" y="411480"/>
                </a:cubicBezTo>
                <a:lnTo>
                  <a:pt x="205744" y="411480"/>
                </a:lnTo>
                <a:moveTo>
                  <a:pt x="102867" y="548640"/>
                </a:moveTo>
                <a:lnTo>
                  <a:pt x="102867" y="960120"/>
                </a:lnTo>
                <a:cubicBezTo>
                  <a:pt x="102867" y="978982"/>
                  <a:pt x="118296" y="994410"/>
                  <a:pt x="137153" y="994410"/>
                </a:cubicBezTo>
                <a:lnTo>
                  <a:pt x="822957" y="994410"/>
                </a:lnTo>
                <a:cubicBezTo>
                  <a:pt x="841814" y="994410"/>
                  <a:pt x="857243" y="978982"/>
                  <a:pt x="857243" y="960120"/>
                </a:cubicBezTo>
                <a:lnTo>
                  <a:pt x="857243" y="548640"/>
                </a:lnTo>
                <a:cubicBezTo>
                  <a:pt x="857243" y="529778"/>
                  <a:pt x="841814" y="514350"/>
                  <a:pt x="822957" y="514350"/>
                </a:cubicBezTo>
                <a:lnTo>
                  <a:pt x="137153" y="514350"/>
                </a:lnTo>
                <a:cubicBezTo>
                  <a:pt x="118296" y="514350"/>
                  <a:pt x="102867" y="529778"/>
                  <a:pt x="102867" y="548640"/>
                </a:cubicBezTo>
                <a:lnTo>
                  <a:pt x="102867" y="54864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49028" y="4199241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共享账号模式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49028" y="357897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简化登录方案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909148" y="1904703"/>
            <a:ext cx="1097280" cy="1097066"/>
          </a:xfrm>
          <a:custGeom>
            <a:avLst/>
            <a:gdLst/>
            <a:ahLst/>
            <a:cxnLst/>
            <a:rect l="l" t="t" r="r" b="b"/>
            <a:pathLst>
              <a:path w="1097280" h="1097066">
                <a:moveTo>
                  <a:pt x="445682" y="377116"/>
                </a:moveTo>
                <a:cubicBezTo>
                  <a:pt x="445682" y="225623"/>
                  <a:pt x="568457" y="102850"/>
                  <a:pt x="719947" y="102850"/>
                </a:cubicBezTo>
                <a:cubicBezTo>
                  <a:pt x="871438" y="102850"/>
                  <a:pt x="994212" y="225622"/>
                  <a:pt x="994212" y="377116"/>
                </a:cubicBezTo>
                <a:cubicBezTo>
                  <a:pt x="994212" y="528610"/>
                  <a:pt x="871438" y="651383"/>
                  <a:pt x="719947" y="651383"/>
                </a:cubicBezTo>
                <a:cubicBezTo>
                  <a:pt x="697662" y="651383"/>
                  <a:pt x="676023" y="648816"/>
                  <a:pt x="655449" y="643670"/>
                </a:cubicBezTo>
                <a:cubicBezTo>
                  <a:pt x="638090" y="639381"/>
                  <a:pt x="619667" y="644526"/>
                  <a:pt x="607026" y="657384"/>
                </a:cubicBezTo>
                <a:lnTo>
                  <a:pt x="544459" y="719949"/>
                </a:lnTo>
                <a:lnTo>
                  <a:pt x="428543" y="719949"/>
                </a:lnTo>
                <a:cubicBezTo>
                  <a:pt x="400046" y="719949"/>
                  <a:pt x="377113" y="742878"/>
                  <a:pt x="377113" y="771380"/>
                </a:cubicBezTo>
                <a:lnTo>
                  <a:pt x="377113" y="857094"/>
                </a:lnTo>
                <a:lnTo>
                  <a:pt x="291405" y="857094"/>
                </a:lnTo>
                <a:cubicBezTo>
                  <a:pt x="262908" y="857094"/>
                  <a:pt x="239975" y="880022"/>
                  <a:pt x="239975" y="908524"/>
                </a:cubicBezTo>
                <a:lnTo>
                  <a:pt x="239975" y="994238"/>
                </a:lnTo>
                <a:lnTo>
                  <a:pt x="102837" y="994238"/>
                </a:lnTo>
                <a:lnTo>
                  <a:pt x="102837" y="826891"/>
                </a:lnTo>
                <a:lnTo>
                  <a:pt x="439669" y="490059"/>
                </a:lnTo>
                <a:cubicBezTo>
                  <a:pt x="452310" y="477421"/>
                  <a:pt x="457456" y="458990"/>
                  <a:pt x="453385" y="441635"/>
                </a:cubicBezTo>
                <a:cubicBezTo>
                  <a:pt x="448458" y="421065"/>
                  <a:pt x="445671" y="399420"/>
                  <a:pt x="445671" y="377138"/>
                </a:cubicBezTo>
                <a:lnTo>
                  <a:pt x="445682" y="377116"/>
                </a:lnTo>
                <a:moveTo>
                  <a:pt x="719947" y="0"/>
                </a:moveTo>
                <a:cubicBezTo>
                  <a:pt x="511673" y="0"/>
                  <a:pt x="342834" y="168849"/>
                  <a:pt x="342834" y="377116"/>
                </a:cubicBezTo>
                <a:cubicBezTo>
                  <a:pt x="342834" y="397467"/>
                  <a:pt x="344337" y="417401"/>
                  <a:pt x="347552" y="436895"/>
                </a:cubicBezTo>
                <a:lnTo>
                  <a:pt x="15000" y="769230"/>
                </a:lnTo>
                <a:cubicBezTo>
                  <a:pt x="5355" y="778873"/>
                  <a:pt x="0" y="791939"/>
                  <a:pt x="0" y="805652"/>
                </a:cubicBezTo>
                <a:lnTo>
                  <a:pt x="0" y="1045635"/>
                </a:lnTo>
                <a:cubicBezTo>
                  <a:pt x="0" y="1074137"/>
                  <a:pt x="22922" y="1097066"/>
                  <a:pt x="51429" y="1097066"/>
                </a:cubicBezTo>
                <a:lnTo>
                  <a:pt x="291416" y="1097066"/>
                </a:lnTo>
                <a:cubicBezTo>
                  <a:pt x="319912" y="1097066"/>
                  <a:pt x="342845" y="1074137"/>
                  <a:pt x="342845" y="1045646"/>
                </a:cubicBezTo>
                <a:lnTo>
                  <a:pt x="342845" y="959943"/>
                </a:lnTo>
                <a:lnTo>
                  <a:pt x="428554" y="959943"/>
                </a:lnTo>
                <a:cubicBezTo>
                  <a:pt x="457050" y="959943"/>
                  <a:pt x="479983" y="937015"/>
                  <a:pt x="479983" y="908524"/>
                </a:cubicBezTo>
                <a:lnTo>
                  <a:pt x="479983" y="822821"/>
                </a:lnTo>
                <a:lnTo>
                  <a:pt x="565692" y="822821"/>
                </a:lnTo>
                <a:cubicBezTo>
                  <a:pt x="579408" y="822821"/>
                  <a:pt x="592476" y="817467"/>
                  <a:pt x="602121" y="807824"/>
                </a:cubicBezTo>
                <a:lnTo>
                  <a:pt x="660398" y="749548"/>
                </a:lnTo>
                <a:cubicBezTo>
                  <a:pt x="679896" y="752543"/>
                  <a:pt x="699823" y="754265"/>
                  <a:pt x="720178" y="754265"/>
                </a:cubicBezTo>
                <a:cubicBezTo>
                  <a:pt x="928452" y="754265"/>
                  <a:pt x="1097291" y="585416"/>
                  <a:pt x="1097291" y="377149"/>
                </a:cubicBezTo>
                <a:cubicBezTo>
                  <a:pt x="1097291" y="168882"/>
                  <a:pt x="928233" y="33"/>
                  <a:pt x="719958" y="33"/>
                </a:cubicBezTo>
                <a:lnTo>
                  <a:pt x="719947" y="0"/>
                </a:lnTo>
                <a:moveTo>
                  <a:pt x="788516" y="377116"/>
                </a:moveTo>
                <a:cubicBezTo>
                  <a:pt x="826383" y="377116"/>
                  <a:pt x="857085" y="346420"/>
                  <a:pt x="857085" y="308550"/>
                </a:cubicBezTo>
                <a:cubicBezTo>
                  <a:pt x="857085" y="270679"/>
                  <a:pt x="826383" y="239983"/>
                  <a:pt x="788516" y="239983"/>
                </a:cubicBezTo>
                <a:cubicBezTo>
                  <a:pt x="750649" y="239983"/>
                  <a:pt x="719947" y="270679"/>
                  <a:pt x="719947" y="308550"/>
                </a:cubicBezTo>
                <a:cubicBezTo>
                  <a:pt x="719947" y="346421"/>
                  <a:pt x="750649" y="377116"/>
                  <a:pt x="788516" y="377116"/>
                </a:cubicBezTo>
                <a:lnTo>
                  <a:pt x="788516" y="377116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-7641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-7640" y="0"/>
            <a:ext cx="536757" cy="6858000"/>
          </a:xfrm>
          <a:prstGeom prst="rect">
            <a:avLst/>
          </a:prstGeom>
          <a:blipFill>
            <a:blip r:embed="rId1"/>
            <a:srcRect l="0" t="0" r="80488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49028" y="1164617"/>
            <a:ext cx="10572412" cy="10672"/>
          </a:xfrm>
          <a:custGeom>
            <a:avLst/>
            <a:gdLst/>
            <a:ahLst/>
            <a:cxnLst/>
            <a:rect l="l" t="t" r="r" b="b"/>
            <a:pathLst>
              <a:path w="10572412" h="10672">
                <a:moveTo>
                  <a:pt x="0" y="0"/>
                </a:moveTo>
                <a:lnTo>
                  <a:pt x="10572412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49995" y="1"/>
            <a:ext cx="10605525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登录设计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1164617"/>
            <a:ext cx="10881360" cy="10672"/>
          </a:xfrm>
          <a:custGeom>
            <a:avLst/>
            <a:gdLst/>
            <a:ahLst/>
            <a:cxnLst/>
            <a:rect l="l" t="t" r="r" b="b"/>
            <a:pathLst>
              <a:path w="10881360" h="10672">
                <a:moveTo>
                  <a:pt x="0" y="0"/>
                </a:moveTo>
                <a:lnTo>
                  <a:pt x="1088136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月度招聘计划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智能招聘管理与数据分析平台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86159" y="628568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79" y="1563065"/>
          <a:ext cx="10911840" cy="4130320"/>
        </p:xfrm>
        <a:graphic>
          <a:graphicData uri="http://schemas.openxmlformats.org/drawingml/2006/table">
            <a:tbl>
              <a:tblPr/>
              <a:tblGrid>
                <a:gridCol w="3637280"/>
                <a:gridCol w="3637280"/>
                <a:gridCol w="3637280"/>
              </a:tblGrid>
              <a:tr h="688387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83333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Figtree Bold" pitchFamily="34" charset="0"/>
                          <a:ea typeface="Figtree Bold" pitchFamily="34" charset="-122"/>
                          <a:cs typeface="Figtree Bold" pitchFamily="34" charset="-120"/>
                        </a:rPr>
                        <a:t>字段</a:t>
                      </a:r>
                      <a:endParaRPr lang="en-US" sz="1200" dirty="0"/>
                    </a:p>
                  </a:txBody>
                  <a:tcPr marL="68400" marR="68400" marT="68400" marB="68400" anchor="ctr">
                    <a:lnL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70E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83333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Figtree Bold" pitchFamily="34" charset="0"/>
                          <a:ea typeface="Figtree Bold" pitchFamily="34" charset="-122"/>
                          <a:cs typeface="Figtree Bold" pitchFamily="34" charset="-120"/>
                        </a:rPr>
                        <a:t>说明</a:t>
                      </a:r>
                      <a:endParaRPr lang="en-US" sz="1200" dirty="0"/>
                    </a:p>
                  </a:txBody>
                  <a:tcPr marL="68400" marR="68400" marT="68400" marB="68400" anchor="ctr">
                    <a:lnL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70E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83333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Figtree Bold" pitchFamily="34" charset="0"/>
                          <a:ea typeface="Figtree Bold" pitchFamily="34" charset="-122"/>
                          <a:cs typeface="Figtree Bold" pitchFamily="34" charset="-120"/>
                        </a:rPr>
                        <a:t>示例</a:t>
                      </a:r>
                      <a:endParaRPr lang="en-US" sz="1200" dirty="0"/>
                    </a:p>
                  </a:txBody>
                  <a:tcPr marL="68400" marR="68400" marT="68400" marB="68400" anchor="ctr">
                    <a:lnL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70EF"/>
                    </a:solidFill>
                  </a:tcPr>
                </a:tc>
              </a:tr>
              <a:tr h="688387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83333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Figtree Regular" pitchFamily="34" charset="0"/>
                          <a:ea typeface="Figtree Regular" pitchFamily="34" charset="-122"/>
                          <a:cs typeface="Figtree Regular" pitchFamily="34" charset="-120"/>
                        </a:rPr>
                        <a:t>招聘周期</a:t>
                      </a:r>
                      <a:endParaRPr lang="en-US" sz="1200" dirty="0"/>
                    </a:p>
                  </a:txBody>
                  <a:tcPr marL="68400" marR="68400" marT="68400" marB="68400" anchor="ctr">
                    <a:lnL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83333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Figtree Regular" pitchFamily="34" charset="0"/>
                          <a:ea typeface="Figtree Regular" pitchFamily="34" charset="-122"/>
                          <a:cs typeface="Figtree Regular" pitchFamily="34" charset="-120"/>
                        </a:rPr>
                        <a:t>按月制定</a:t>
                      </a:r>
                      <a:endParaRPr lang="en-US" sz="1200" dirty="0"/>
                    </a:p>
                  </a:txBody>
                  <a:tcPr marL="68400" marR="68400" marT="68400" marB="68400" anchor="ctr">
                    <a:lnL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83333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Figtree Regular" pitchFamily="34" charset="0"/>
                          <a:ea typeface="Figtree Regular" pitchFamily="34" charset="-122"/>
                          <a:cs typeface="Figtree Regular" pitchFamily="34" charset="-120"/>
                        </a:rPr>
                        <a:t>2024年1月</a:t>
                      </a:r>
                      <a:endParaRPr lang="en-US" sz="1200" dirty="0"/>
                    </a:p>
                  </a:txBody>
                  <a:tcPr marL="68400" marR="68400" marT="68400" marB="68400" anchor="ctr">
                    <a:lnL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8387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83333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Figtree Regular" pitchFamily="34" charset="0"/>
                          <a:ea typeface="Figtree Regular" pitchFamily="34" charset="-122"/>
                          <a:cs typeface="Figtree Regular" pitchFamily="34" charset="-120"/>
                        </a:rPr>
                        <a:t>岗位名称</a:t>
                      </a:r>
                      <a:endParaRPr lang="en-US" sz="1200" dirty="0"/>
                    </a:p>
                  </a:txBody>
                  <a:tcPr marL="68400" marR="68400" marT="68400" marB="68400" anchor="ctr">
                    <a:lnL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2F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83333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Figtree Regular" pitchFamily="34" charset="0"/>
                          <a:ea typeface="Figtree Regular" pitchFamily="34" charset="-122"/>
                          <a:cs typeface="Figtree Regular" pitchFamily="34" charset="-120"/>
                        </a:rPr>
                        <a:t>具体职位</a:t>
                      </a:r>
                      <a:endParaRPr lang="en-US" sz="1200" dirty="0"/>
                    </a:p>
                  </a:txBody>
                  <a:tcPr marL="68400" marR="68400" marT="68400" marB="68400" anchor="ctr">
                    <a:lnL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2F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83333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Figtree Regular" pitchFamily="34" charset="0"/>
                          <a:ea typeface="Figtree Regular" pitchFamily="34" charset="-122"/>
                          <a:cs typeface="Figtree Regular" pitchFamily="34" charset="-120"/>
                        </a:rPr>
                        <a:t>Java开发工程师</a:t>
                      </a:r>
                      <a:endParaRPr lang="en-US" sz="1200" dirty="0"/>
                    </a:p>
                  </a:txBody>
                  <a:tcPr marL="68400" marR="68400" marT="68400" marB="68400" anchor="ctr">
                    <a:lnL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2FC"/>
                    </a:solidFill>
                  </a:tcPr>
                </a:tc>
              </a:tr>
              <a:tr h="688387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83333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Figtree Regular" pitchFamily="34" charset="0"/>
                          <a:ea typeface="Figtree Regular" pitchFamily="34" charset="-122"/>
                          <a:cs typeface="Figtree Regular" pitchFamily="34" charset="-120"/>
                        </a:rPr>
                        <a:t>优先级</a:t>
                      </a:r>
                      <a:endParaRPr lang="en-US" sz="1200" dirty="0"/>
                    </a:p>
                  </a:txBody>
                  <a:tcPr marL="68400" marR="68400" marT="68400" marB="68400" anchor="ctr">
                    <a:lnL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83333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Figtree Regular" pitchFamily="34" charset="0"/>
                          <a:ea typeface="Figtree Regular" pitchFamily="34" charset="-122"/>
                          <a:cs typeface="Figtree Regular" pitchFamily="34" charset="-120"/>
                        </a:rPr>
                        <a:t>紧急程度分级</a:t>
                      </a:r>
                      <a:endParaRPr lang="en-US" sz="1200" dirty="0"/>
                    </a:p>
                  </a:txBody>
                  <a:tcPr marL="68400" marR="68400" marT="68400" marB="68400" anchor="ctr">
                    <a:lnL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83333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Figtree Regular" pitchFamily="34" charset="0"/>
                          <a:ea typeface="Figtree Regular" pitchFamily="34" charset="-122"/>
                          <a:cs typeface="Figtree Regular" pitchFamily="34" charset="-120"/>
                        </a:rPr>
                        <a:t>P0/P1/P2</a:t>
                      </a:r>
                      <a:endParaRPr lang="en-US" sz="1200" dirty="0"/>
                    </a:p>
                  </a:txBody>
                  <a:tcPr marL="68400" marR="68400" marT="68400" marB="68400" anchor="ctr">
                    <a:lnL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8387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83333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Figtree Regular" pitchFamily="34" charset="0"/>
                          <a:ea typeface="Figtree Regular" pitchFamily="34" charset="-122"/>
                          <a:cs typeface="Figtree Regular" pitchFamily="34" charset="-120"/>
                        </a:rPr>
                        <a:t>目标人数</a:t>
                      </a:r>
                      <a:endParaRPr lang="en-US" sz="1200" dirty="0"/>
                    </a:p>
                  </a:txBody>
                  <a:tcPr marL="68400" marR="68400" marT="68400" marB="68400" anchor="ctr">
                    <a:lnL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2F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83333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Figtree Regular" pitchFamily="34" charset="0"/>
                          <a:ea typeface="Figtree Regular" pitchFamily="34" charset="-122"/>
                          <a:cs typeface="Figtree Regular" pitchFamily="34" charset="-120"/>
                        </a:rPr>
                        <a:t>计划入职人数</a:t>
                      </a:r>
                      <a:endParaRPr lang="en-US" sz="1200" dirty="0"/>
                    </a:p>
                  </a:txBody>
                  <a:tcPr marL="68400" marR="68400" marT="68400" marB="68400" anchor="ctr">
                    <a:lnL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2F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83333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Figtree Regular" pitchFamily="34" charset="0"/>
                          <a:ea typeface="Figtree Regular" pitchFamily="34" charset="-122"/>
                          <a:cs typeface="Figtree Regular" pitchFamily="34" charset="-120"/>
                        </a:rPr>
                        <a:t>3人</a:t>
                      </a:r>
                      <a:endParaRPr lang="en-US" sz="1200" dirty="0"/>
                    </a:p>
                  </a:txBody>
                  <a:tcPr marL="68400" marR="68400" marT="68400" marB="68400" anchor="ctr">
                    <a:lnL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2FC"/>
                    </a:solidFill>
                  </a:tcPr>
                </a:tc>
              </a:tr>
              <a:tr h="688387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83333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Figtree Regular" pitchFamily="34" charset="0"/>
                          <a:ea typeface="Figtree Regular" pitchFamily="34" charset="-122"/>
                          <a:cs typeface="Figtree Regular" pitchFamily="34" charset="-120"/>
                        </a:rPr>
                        <a:t>业务负责人</a:t>
                      </a:r>
                      <a:endParaRPr lang="en-US" sz="1200" dirty="0"/>
                    </a:p>
                  </a:txBody>
                  <a:tcPr marL="68400" marR="68400" marT="68400" marB="68400" anchor="ctr">
                    <a:lnL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83333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Figtree Regular" pitchFamily="34" charset="0"/>
                          <a:ea typeface="Figtree Regular" pitchFamily="34" charset="-122"/>
                          <a:cs typeface="Figtree Regular" pitchFamily="34" charset="-120"/>
                        </a:rPr>
                        <a:t>对接业务部门</a:t>
                      </a:r>
                      <a:endParaRPr lang="en-US" sz="1200" dirty="0"/>
                    </a:p>
                  </a:txBody>
                  <a:tcPr marL="68400" marR="68400" marT="68400" marB="68400" anchor="ctr">
                    <a:lnL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83333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Figtree Regular" pitchFamily="34" charset="0"/>
                          <a:ea typeface="Figtree Regular" pitchFamily="34" charset="-122"/>
                          <a:cs typeface="Figtree Regular" pitchFamily="34" charset="-120"/>
                        </a:rPr>
                        <a:t>张经理</a:t>
                      </a:r>
                      <a:endParaRPr lang="en-US" sz="1200" dirty="0"/>
                    </a:p>
                  </a:txBody>
                  <a:tcPr marL="68400" marR="68400" marT="68400" marB="68400" anchor="ctr">
                    <a:lnL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677394" y="1558799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731520"/>
                </a:moveTo>
                <a:cubicBezTo>
                  <a:pt x="0" y="327516"/>
                  <a:pt x="327516" y="0"/>
                  <a:pt x="731520" y="0"/>
                </a:cubicBezTo>
                <a:cubicBezTo>
                  <a:pt x="1135524" y="0"/>
                  <a:pt x="1463040" y="327516"/>
                  <a:pt x="1463040" y="731520"/>
                </a:cubicBezTo>
                <a:cubicBezTo>
                  <a:pt x="1463040" y="1135524"/>
                  <a:pt x="1135524" y="1463040"/>
                  <a:pt x="731520" y="1463040"/>
                </a:cubicBezTo>
                <a:cubicBezTo>
                  <a:pt x="327516" y="1463040"/>
                  <a:pt x="0" y="1135524"/>
                  <a:pt x="0" y="73152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02116" y="1558799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731520"/>
                </a:moveTo>
                <a:cubicBezTo>
                  <a:pt x="0" y="327516"/>
                  <a:pt x="327516" y="0"/>
                  <a:pt x="731520" y="0"/>
                </a:cubicBezTo>
                <a:cubicBezTo>
                  <a:pt x="1135524" y="0"/>
                  <a:pt x="1463040" y="327516"/>
                  <a:pt x="1463040" y="731520"/>
                </a:cubicBezTo>
                <a:cubicBezTo>
                  <a:pt x="1463040" y="1135524"/>
                  <a:pt x="1135524" y="1463040"/>
                  <a:pt x="731520" y="1463040"/>
                </a:cubicBezTo>
                <a:cubicBezTo>
                  <a:pt x="327516" y="1463040"/>
                  <a:pt x="0" y="1135524"/>
                  <a:pt x="0" y="73152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26838" y="1558799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731520"/>
                </a:moveTo>
                <a:cubicBezTo>
                  <a:pt x="0" y="327516"/>
                  <a:pt x="327516" y="0"/>
                  <a:pt x="731520" y="0"/>
                </a:cubicBezTo>
                <a:cubicBezTo>
                  <a:pt x="1135524" y="0"/>
                  <a:pt x="1463040" y="327516"/>
                  <a:pt x="1463040" y="731520"/>
                </a:cubicBezTo>
                <a:cubicBezTo>
                  <a:pt x="1463040" y="1135524"/>
                  <a:pt x="1135524" y="1463040"/>
                  <a:pt x="731520" y="1463040"/>
                </a:cubicBezTo>
                <a:cubicBezTo>
                  <a:pt x="327516" y="1463040"/>
                  <a:pt x="0" y="1135524"/>
                  <a:pt x="0" y="73152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51560" y="1558799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731520"/>
                </a:moveTo>
                <a:cubicBezTo>
                  <a:pt x="0" y="327516"/>
                  <a:pt x="327516" y="0"/>
                  <a:pt x="731520" y="0"/>
                </a:cubicBezTo>
                <a:cubicBezTo>
                  <a:pt x="1135524" y="0"/>
                  <a:pt x="1463040" y="327516"/>
                  <a:pt x="1463040" y="731520"/>
                </a:cubicBezTo>
                <a:cubicBezTo>
                  <a:pt x="1463040" y="1135524"/>
                  <a:pt x="1135524" y="1463040"/>
                  <a:pt x="731520" y="1463040"/>
                </a:cubicBezTo>
                <a:cubicBezTo>
                  <a:pt x="327516" y="1463040"/>
                  <a:pt x="0" y="1135524"/>
                  <a:pt x="0" y="73152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164617"/>
            <a:ext cx="10881360" cy="10672"/>
          </a:xfrm>
          <a:custGeom>
            <a:avLst/>
            <a:gdLst/>
            <a:ahLst/>
            <a:cxnLst/>
            <a:rect l="l" t="t" r="r" b="b"/>
            <a:pathLst>
              <a:path w="10881360" h="10672">
                <a:moveTo>
                  <a:pt x="0" y="0"/>
                </a:moveTo>
                <a:lnTo>
                  <a:pt x="1088136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智能招聘管理与数据分析平台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7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主页目标看板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066014" y="1833119"/>
            <a:ext cx="685800" cy="914400"/>
          </a:xfrm>
          <a:custGeom>
            <a:avLst/>
            <a:gdLst/>
            <a:ahLst/>
            <a:cxnLst/>
            <a:rect l="l" t="t" r="r" b="b"/>
            <a:pathLst>
              <a:path w="685800" h="914400">
                <a:moveTo>
                  <a:pt x="500065" y="114300"/>
                </a:moveTo>
                <a:lnTo>
                  <a:pt x="571505" y="114300"/>
                </a:lnTo>
                <a:cubicBezTo>
                  <a:pt x="634550" y="114300"/>
                  <a:pt x="685807" y="165552"/>
                  <a:pt x="685807" y="228600"/>
                </a:cubicBezTo>
                <a:lnTo>
                  <a:pt x="685807" y="800100"/>
                </a:lnTo>
                <a:cubicBezTo>
                  <a:pt x="685807" y="863148"/>
                  <a:pt x="634550" y="914400"/>
                  <a:pt x="571505" y="914400"/>
                </a:cubicBezTo>
                <a:lnTo>
                  <a:pt x="114302" y="914400"/>
                </a:lnTo>
                <a:cubicBezTo>
                  <a:pt x="51257" y="914400"/>
                  <a:pt x="0" y="863148"/>
                  <a:pt x="0" y="800100"/>
                </a:cubicBezTo>
                <a:lnTo>
                  <a:pt x="0" y="228600"/>
                </a:lnTo>
                <a:cubicBezTo>
                  <a:pt x="0" y="165552"/>
                  <a:pt x="51257" y="114300"/>
                  <a:pt x="114302" y="114300"/>
                </a:cubicBezTo>
                <a:lnTo>
                  <a:pt x="185742" y="114300"/>
                </a:lnTo>
                <a:lnTo>
                  <a:pt x="202887" y="114300"/>
                </a:lnTo>
                <a:cubicBezTo>
                  <a:pt x="216102" y="49112"/>
                  <a:pt x="273792" y="0"/>
                  <a:pt x="342907" y="0"/>
                </a:cubicBezTo>
                <a:cubicBezTo>
                  <a:pt x="412022" y="0"/>
                  <a:pt x="469711" y="49112"/>
                  <a:pt x="482927" y="114300"/>
                </a:cubicBezTo>
                <a:lnTo>
                  <a:pt x="500065" y="114300"/>
                </a:lnTo>
                <a:moveTo>
                  <a:pt x="114302" y="200025"/>
                </a:moveTo>
                <a:cubicBezTo>
                  <a:pt x="98584" y="200025"/>
                  <a:pt x="85725" y="212881"/>
                  <a:pt x="85725" y="228600"/>
                </a:cubicBezTo>
                <a:lnTo>
                  <a:pt x="85725" y="800100"/>
                </a:lnTo>
                <a:cubicBezTo>
                  <a:pt x="85725" y="815819"/>
                  <a:pt x="98584" y="828675"/>
                  <a:pt x="114302" y="828675"/>
                </a:cubicBezTo>
                <a:lnTo>
                  <a:pt x="571505" y="828675"/>
                </a:lnTo>
                <a:cubicBezTo>
                  <a:pt x="587223" y="828675"/>
                  <a:pt x="600082" y="815819"/>
                  <a:pt x="600082" y="800100"/>
                </a:cubicBezTo>
                <a:lnTo>
                  <a:pt x="600082" y="228600"/>
                </a:lnTo>
                <a:cubicBezTo>
                  <a:pt x="600082" y="212881"/>
                  <a:pt x="587223" y="200025"/>
                  <a:pt x="571505" y="200025"/>
                </a:cubicBezTo>
                <a:lnTo>
                  <a:pt x="542927" y="200025"/>
                </a:lnTo>
                <a:lnTo>
                  <a:pt x="542927" y="242892"/>
                </a:lnTo>
                <a:cubicBezTo>
                  <a:pt x="542927" y="266648"/>
                  <a:pt x="523821" y="285759"/>
                  <a:pt x="500065" y="285759"/>
                </a:cubicBezTo>
                <a:lnTo>
                  <a:pt x="342900" y="285759"/>
                </a:lnTo>
                <a:lnTo>
                  <a:pt x="185735" y="285759"/>
                </a:lnTo>
                <a:cubicBezTo>
                  <a:pt x="161979" y="285759"/>
                  <a:pt x="142873" y="266648"/>
                  <a:pt x="142873" y="242901"/>
                </a:cubicBezTo>
                <a:lnTo>
                  <a:pt x="142873" y="200043"/>
                </a:lnTo>
                <a:lnTo>
                  <a:pt x="114302" y="200025"/>
                </a:lnTo>
                <a:moveTo>
                  <a:pt x="342900" y="185742"/>
                </a:moveTo>
                <a:cubicBezTo>
                  <a:pt x="366574" y="185742"/>
                  <a:pt x="385763" y="166549"/>
                  <a:pt x="385763" y="142884"/>
                </a:cubicBezTo>
                <a:cubicBezTo>
                  <a:pt x="385763" y="119210"/>
                  <a:pt x="366574" y="100026"/>
                  <a:pt x="342900" y="100026"/>
                </a:cubicBezTo>
                <a:cubicBezTo>
                  <a:pt x="319226" y="100026"/>
                  <a:pt x="300038" y="119219"/>
                  <a:pt x="300038" y="142893"/>
                </a:cubicBezTo>
                <a:cubicBezTo>
                  <a:pt x="300038" y="166567"/>
                  <a:pt x="319226" y="185760"/>
                  <a:pt x="342900" y="185760"/>
                </a:cubicBezTo>
                <a:lnTo>
                  <a:pt x="342900" y="185742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265914" y="329463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关键指标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65914" y="3813052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简历筛选率</a:t>
            </a:r>
            <a:endParaRPr lang="en-US" sz="1200" dirty="0"/>
          </a:p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面试转化率</a:t>
            </a:r>
            <a:endParaRPr lang="en-US" sz="1200" dirty="0"/>
          </a:p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offer接受率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76436" y="1890269"/>
            <a:ext cx="914400" cy="800100"/>
          </a:xfrm>
          <a:custGeom>
            <a:avLst/>
            <a:gdLst/>
            <a:ahLst/>
            <a:cxnLst/>
            <a:rect l="l" t="t" r="r" b="b"/>
            <a:pathLst>
              <a:path w="914400" h="800100">
                <a:moveTo>
                  <a:pt x="42867" y="0"/>
                </a:moveTo>
                <a:cubicBezTo>
                  <a:pt x="66623" y="0"/>
                  <a:pt x="85734" y="19106"/>
                  <a:pt x="85734" y="42861"/>
                </a:cubicBezTo>
                <a:lnTo>
                  <a:pt x="85734" y="671508"/>
                </a:lnTo>
                <a:cubicBezTo>
                  <a:pt x="85734" y="695263"/>
                  <a:pt x="104845" y="714369"/>
                  <a:pt x="128601" y="714369"/>
                </a:cubicBezTo>
                <a:lnTo>
                  <a:pt x="871551" y="714369"/>
                </a:lnTo>
                <a:cubicBezTo>
                  <a:pt x="895307" y="714369"/>
                  <a:pt x="914418" y="733476"/>
                  <a:pt x="914418" y="757231"/>
                </a:cubicBezTo>
                <a:cubicBezTo>
                  <a:pt x="914418" y="780986"/>
                  <a:pt x="895307" y="800092"/>
                  <a:pt x="871560" y="800092"/>
                </a:cubicBezTo>
                <a:lnTo>
                  <a:pt x="128610" y="800092"/>
                </a:lnTo>
                <a:cubicBezTo>
                  <a:pt x="57534" y="800092"/>
                  <a:pt x="27" y="742581"/>
                  <a:pt x="27" y="671508"/>
                </a:cubicBezTo>
                <a:lnTo>
                  <a:pt x="27" y="42861"/>
                </a:lnTo>
                <a:cubicBezTo>
                  <a:pt x="27" y="19106"/>
                  <a:pt x="19138" y="0"/>
                  <a:pt x="42895" y="0"/>
                </a:cubicBezTo>
                <a:lnTo>
                  <a:pt x="42867" y="0"/>
                </a:lnTo>
              </a:path>
              <a:path w="914400" h="800100">
                <a:moveTo>
                  <a:pt x="300042" y="342899"/>
                </a:moveTo>
                <a:cubicBezTo>
                  <a:pt x="323798" y="342899"/>
                  <a:pt x="342909" y="362005"/>
                  <a:pt x="342909" y="385760"/>
                </a:cubicBezTo>
                <a:lnTo>
                  <a:pt x="342909" y="528634"/>
                </a:lnTo>
                <a:cubicBezTo>
                  <a:pt x="342909" y="552389"/>
                  <a:pt x="323798" y="571495"/>
                  <a:pt x="300051" y="571495"/>
                </a:cubicBezTo>
                <a:cubicBezTo>
                  <a:pt x="276295" y="571495"/>
                  <a:pt x="257193" y="552389"/>
                  <a:pt x="257193" y="528634"/>
                </a:cubicBezTo>
                <a:lnTo>
                  <a:pt x="257193" y="385760"/>
                </a:lnTo>
                <a:cubicBezTo>
                  <a:pt x="257193" y="362005"/>
                  <a:pt x="276304" y="342899"/>
                  <a:pt x="300060" y="342899"/>
                </a:cubicBezTo>
                <a:lnTo>
                  <a:pt x="300042" y="342899"/>
                </a:lnTo>
              </a:path>
              <a:path w="914400" h="800100">
                <a:moveTo>
                  <a:pt x="514350" y="214315"/>
                </a:moveTo>
                <a:lnTo>
                  <a:pt x="514350" y="528642"/>
                </a:lnTo>
                <a:cubicBezTo>
                  <a:pt x="514350" y="552397"/>
                  <a:pt x="495239" y="571503"/>
                  <a:pt x="471492" y="571503"/>
                </a:cubicBezTo>
                <a:cubicBezTo>
                  <a:pt x="447736" y="571503"/>
                  <a:pt x="428634" y="552397"/>
                  <a:pt x="428634" y="528642"/>
                </a:cubicBezTo>
                <a:lnTo>
                  <a:pt x="428634" y="214315"/>
                </a:lnTo>
                <a:cubicBezTo>
                  <a:pt x="428634" y="190560"/>
                  <a:pt x="447745" y="171453"/>
                  <a:pt x="471501" y="171453"/>
                </a:cubicBezTo>
                <a:cubicBezTo>
                  <a:pt x="495257" y="171453"/>
                  <a:pt x="514368" y="190560"/>
                  <a:pt x="514368" y="214315"/>
                </a:cubicBezTo>
                <a:lnTo>
                  <a:pt x="514350" y="214315"/>
                </a:lnTo>
              </a:path>
              <a:path w="914400" h="800100">
                <a:moveTo>
                  <a:pt x="642942" y="285748"/>
                </a:moveTo>
                <a:cubicBezTo>
                  <a:pt x="666698" y="285748"/>
                  <a:pt x="685809" y="304854"/>
                  <a:pt x="685809" y="328609"/>
                </a:cubicBezTo>
                <a:lnTo>
                  <a:pt x="685809" y="528634"/>
                </a:lnTo>
                <a:cubicBezTo>
                  <a:pt x="685809" y="552389"/>
                  <a:pt x="666698" y="571495"/>
                  <a:pt x="642951" y="571495"/>
                </a:cubicBezTo>
                <a:cubicBezTo>
                  <a:pt x="619195" y="571495"/>
                  <a:pt x="600093" y="552389"/>
                  <a:pt x="600093" y="528634"/>
                </a:cubicBezTo>
                <a:lnTo>
                  <a:pt x="600093" y="328609"/>
                </a:lnTo>
                <a:cubicBezTo>
                  <a:pt x="600093" y="304854"/>
                  <a:pt x="619204" y="285748"/>
                  <a:pt x="642960" y="285748"/>
                </a:cubicBezTo>
                <a:lnTo>
                  <a:pt x="642942" y="285748"/>
                </a:lnTo>
              </a:path>
              <a:path w="914400" h="800100">
                <a:moveTo>
                  <a:pt x="857250" y="100013"/>
                </a:moveTo>
                <a:lnTo>
                  <a:pt x="857250" y="528634"/>
                </a:lnTo>
                <a:cubicBezTo>
                  <a:pt x="857250" y="552389"/>
                  <a:pt x="838139" y="571495"/>
                  <a:pt x="814392" y="571495"/>
                </a:cubicBezTo>
                <a:cubicBezTo>
                  <a:pt x="790636" y="571495"/>
                  <a:pt x="771534" y="552389"/>
                  <a:pt x="771534" y="528634"/>
                </a:cubicBezTo>
                <a:lnTo>
                  <a:pt x="771534" y="100013"/>
                </a:lnTo>
                <a:cubicBezTo>
                  <a:pt x="771534" y="76258"/>
                  <a:pt x="790645" y="57151"/>
                  <a:pt x="814401" y="57151"/>
                </a:cubicBezTo>
                <a:cubicBezTo>
                  <a:pt x="838157" y="57151"/>
                  <a:pt x="857268" y="76258"/>
                  <a:pt x="857268" y="100013"/>
                </a:cubicBezTo>
                <a:lnTo>
                  <a:pt x="857250" y="100013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90636" y="329463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业务部门招聘达成率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0636" y="3813052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业务部门招聘达成率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01158" y="1914762"/>
            <a:ext cx="914400" cy="751114"/>
          </a:xfrm>
          <a:custGeom>
            <a:avLst/>
            <a:gdLst/>
            <a:ahLst/>
            <a:cxnLst/>
            <a:rect l="l" t="t" r="r" b="b"/>
            <a:pathLst>
              <a:path w="914400" h="751114">
                <a:moveTo>
                  <a:pt x="0" y="48988"/>
                </a:moveTo>
                <a:cubicBezTo>
                  <a:pt x="0" y="21842"/>
                  <a:pt x="21836" y="0"/>
                  <a:pt x="48984" y="0"/>
                </a:cubicBezTo>
                <a:lnTo>
                  <a:pt x="865416" y="0"/>
                </a:lnTo>
                <a:cubicBezTo>
                  <a:pt x="892564" y="0"/>
                  <a:pt x="914400" y="21842"/>
                  <a:pt x="914400" y="48988"/>
                </a:cubicBezTo>
                <a:cubicBezTo>
                  <a:pt x="914400" y="76133"/>
                  <a:pt x="892564" y="97975"/>
                  <a:pt x="865416" y="97975"/>
                </a:cubicBezTo>
                <a:lnTo>
                  <a:pt x="48984" y="97975"/>
                </a:lnTo>
                <a:cubicBezTo>
                  <a:pt x="21836" y="97975"/>
                  <a:pt x="0" y="76133"/>
                  <a:pt x="0" y="48988"/>
                </a:cubicBezTo>
                <a:lnTo>
                  <a:pt x="0" y="48988"/>
                </a:lnTo>
              </a:path>
              <a:path w="914400" h="751114">
                <a:moveTo>
                  <a:pt x="0" y="375557"/>
                </a:moveTo>
                <a:cubicBezTo>
                  <a:pt x="0" y="348412"/>
                  <a:pt x="21836" y="326569"/>
                  <a:pt x="48984" y="326569"/>
                </a:cubicBezTo>
                <a:lnTo>
                  <a:pt x="865416" y="326569"/>
                </a:lnTo>
                <a:cubicBezTo>
                  <a:pt x="892564" y="326569"/>
                  <a:pt x="914400" y="348412"/>
                  <a:pt x="914400" y="375557"/>
                </a:cubicBezTo>
                <a:cubicBezTo>
                  <a:pt x="914400" y="402702"/>
                  <a:pt x="892564" y="424545"/>
                  <a:pt x="865416" y="424545"/>
                </a:cubicBezTo>
                <a:lnTo>
                  <a:pt x="48984" y="424545"/>
                </a:lnTo>
                <a:cubicBezTo>
                  <a:pt x="21836" y="424545"/>
                  <a:pt x="0" y="402702"/>
                  <a:pt x="0" y="375557"/>
                </a:cubicBezTo>
                <a:lnTo>
                  <a:pt x="0" y="375557"/>
                </a:lnTo>
              </a:path>
              <a:path w="914400" h="751114">
                <a:moveTo>
                  <a:pt x="914400" y="702127"/>
                </a:moveTo>
                <a:cubicBezTo>
                  <a:pt x="914400" y="729272"/>
                  <a:pt x="892564" y="751114"/>
                  <a:pt x="865416" y="751114"/>
                </a:cubicBezTo>
                <a:lnTo>
                  <a:pt x="48984" y="751114"/>
                </a:lnTo>
                <a:cubicBezTo>
                  <a:pt x="21836" y="751114"/>
                  <a:pt x="0" y="729272"/>
                  <a:pt x="0" y="702127"/>
                </a:cubicBezTo>
                <a:cubicBezTo>
                  <a:pt x="0" y="674981"/>
                  <a:pt x="21836" y="653139"/>
                  <a:pt x="48984" y="653139"/>
                </a:cubicBezTo>
                <a:lnTo>
                  <a:pt x="865416" y="653139"/>
                </a:lnTo>
                <a:cubicBezTo>
                  <a:pt x="892564" y="653139"/>
                  <a:pt x="914400" y="674981"/>
                  <a:pt x="914400" y="702127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515358" y="329463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岗位完成进度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15358" y="3813052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各优先级岗位完成进度（P0/P1/P2）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83030" y="1833119"/>
            <a:ext cx="800100" cy="914400"/>
          </a:xfrm>
          <a:custGeom>
            <a:avLst/>
            <a:gdLst/>
            <a:ahLst/>
            <a:cxnLst/>
            <a:rect l="l" t="t" r="r" b="b"/>
            <a:pathLst>
              <a:path w="800100" h="914400">
                <a:moveTo>
                  <a:pt x="271466" y="42867"/>
                </a:moveTo>
                <a:cubicBezTo>
                  <a:pt x="271466" y="19111"/>
                  <a:pt x="252360" y="9"/>
                  <a:pt x="228605" y="9"/>
                </a:cubicBezTo>
                <a:cubicBezTo>
                  <a:pt x="204850" y="9"/>
                  <a:pt x="185743" y="19120"/>
                  <a:pt x="185743" y="42876"/>
                </a:cubicBezTo>
                <a:lnTo>
                  <a:pt x="185743" y="114318"/>
                </a:lnTo>
                <a:lnTo>
                  <a:pt x="114302" y="114318"/>
                </a:lnTo>
                <a:cubicBezTo>
                  <a:pt x="51262" y="114318"/>
                  <a:pt x="0" y="165570"/>
                  <a:pt x="0" y="228618"/>
                </a:cubicBezTo>
                <a:lnTo>
                  <a:pt x="0" y="257193"/>
                </a:lnTo>
                <a:lnTo>
                  <a:pt x="0" y="342918"/>
                </a:lnTo>
                <a:lnTo>
                  <a:pt x="0" y="800118"/>
                </a:lnTo>
                <a:cubicBezTo>
                  <a:pt x="0" y="863166"/>
                  <a:pt x="51254" y="914418"/>
                  <a:pt x="114302" y="914418"/>
                </a:cubicBezTo>
                <a:lnTo>
                  <a:pt x="685806" y="914418"/>
                </a:lnTo>
                <a:cubicBezTo>
                  <a:pt x="748846" y="914418"/>
                  <a:pt x="800108" y="863166"/>
                  <a:pt x="800108" y="800118"/>
                </a:cubicBezTo>
                <a:lnTo>
                  <a:pt x="800108" y="342918"/>
                </a:lnTo>
                <a:lnTo>
                  <a:pt x="800108" y="257193"/>
                </a:lnTo>
                <a:lnTo>
                  <a:pt x="800108" y="228618"/>
                </a:lnTo>
                <a:cubicBezTo>
                  <a:pt x="800108" y="165570"/>
                  <a:pt x="748854" y="114318"/>
                  <a:pt x="685806" y="114318"/>
                </a:cubicBezTo>
                <a:lnTo>
                  <a:pt x="614365" y="114318"/>
                </a:lnTo>
                <a:lnTo>
                  <a:pt x="614365" y="42885"/>
                </a:lnTo>
                <a:cubicBezTo>
                  <a:pt x="614365" y="19129"/>
                  <a:pt x="595258" y="27"/>
                  <a:pt x="571503" y="27"/>
                </a:cubicBezTo>
                <a:cubicBezTo>
                  <a:pt x="547748" y="27"/>
                  <a:pt x="528642" y="19138"/>
                  <a:pt x="528642" y="42895"/>
                </a:cubicBezTo>
                <a:lnTo>
                  <a:pt x="528642" y="114337"/>
                </a:lnTo>
                <a:lnTo>
                  <a:pt x="271466" y="114337"/>
                </a:lnTo>
                <a:lnTo>
                  <a:pt x="271466" y="42867"/>
                </a:lnTo>
                <a:moveTo>
                  <a:pt x="85723" y="342900"/>
                </a:moveTo>
                <a:lnTo>
                  <a:pt x="714369" y="342900"/>
                </a:lnTo>
                <a:lnTo>
                  <a:pt x="714369" y="800100"/>
                </a:lnTo>
                <a:cubicBezTo>
                  <a:pt x="714369" y="815819"/>
                  <a:pt x="701512" y="828675"/>
                  <a:pt x="685798" y="828675"/>
                </a:cubicBezTo>
                <a:lnTo>
                  <a:pt x="114294" y="828675"/>
                </a:lnTo>
                <a:cubicBezTo>
                  <a:pt x="98580" y="828675"/>
                  <a:pt x="85723" y="815819"/>
                  <a:pt x="85723" y="800100"/>
                </a:cubicBezTo>
                <a:lnTo>
                  <a:pt x="85723" y="34290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40080" y="329463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月度目标完成情况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3813052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本月计划入职人数 vs 实际入职人数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1164617"/>
            <a:ext cx="10881360" cy="10672"/>
          </a:xfrm>
          <a:custGeom>
            <a:avLst/>
            <a:gdLst/>
            <a:ahLst/>
            <a:cxnLst/>
            <a:rect l="l" t="t" r="r" b="b"/>
            <a:pathLst>
              <a:path w="10881360" h="10672">
                <a:moveTo>
                  <a:pt x="0" y="0"/>
                </a:moveTo>
                <a:lnTo>
                  <a:pt x="1088136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346960" y="3786583"/>
            <a:ext cx="7498080" cy="9525"/>
          </a:xfrm>
          <a:custGeom>
            <a:avLst/>
            <a:gdLst/>
            <a:ahLst/>
            <a:cxnLst/>
            <a:rect l="l" t="t" r="r" b="b"/>
            <a:pathLst>
              <a:path w="7498080" h="9525">
                <a:moveTo>
                  <a:pt x="0" y="0"/>
                </a:moveTo>
                <a:lnTo>
                  <a:pt x="7498080" y="9525"/>
                </a:lnTo>
              </a:path>
            </a:pathLst>
          </a:custGeom>
          <a:noFill/>
          <a:ln w="28575">
            <a:solidFill>
              <a:srgbClr val="D0E2FC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0" y="3244398"/>
            <a:ext cx="9525" cy="267604"/>
          </a:xfrm>
          <a:custGeom>
            <a:avLst/>
            <a:gdLst/>
            <a:ahLst/>
            <a:cxnLst/>
            <a:rect l="l" t="t" r="r" b="b"/>
            <a:pathLst>
              <a:path w="9525" h="267604">
                <a:moveTo>
                  <a:pt x="0" y="267604"/>
                </a:moveTo>
                <a:lnTo>
                  <a:pt x="9525" y="0"/>
                </a:lnTo>
              </a:path>
            </a:pathLst>
          </a:custGeom>
          <a:noFill/>
          <a:ln w="2857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026921" y="3244398"/>
            <a:ext cx="9525" cy="267604"/>
          </a:xfrm>
          <a:custGeom>
            <a:avLst/>
            <a:gdLst/>
            <a:ahLst/>
            <a:cxnLst/>
            <a:rect l="l" t="t" r="r" b="b"/>
            <a:pathLst>
              <a:path w="9525" h="267604">
                <a:moveTo>
                  <a:pt x="0" y="267604"/>
                </a:moveTo>
                <a:lnTo>
                  <a:pt x="9525" y="0"/>
                </a:lnTo>
              </a:path>
            </a:pathLst>
          </a:custGeom>
          <a:noFill/>
          <a:ln w="2857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165079" y="3244398"/>
            <a:ext cx="9525" cy="267604"/>
          </a:xfrm>
          <a:custGeom>
            <a:avLst/>
            <a:gdLst/>
            <a:ahLst/>
            <a:cxnLst/>
            <a:rect l="l" t="t" r="r" b="b"/>
            <a:pathLst>
              <a:path w="9525" h="267604">
                <a:moveTo>
                  <a:pt x="0" y="267604"/>
                </a:moveTo>
                <a:lnTo>
                  <a:pt x="9525" y="0"/>
                </a:lnTo>
              </a:path>
            </a:pathLst>
          </a:custGeom>
          <a:noFill/>
          <a:ln w="2857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61461" y="4058706"/>
            <a:ext cx="9525" cy="267604"/>
          </a:xfrm>
          <a:custGeom>
            <a:avLst/>
            <a:gdLst/>
            <a:ahLst/>
            <a:cxnLst/>
            <a:rect l="l" t="t" r="r" b="b"/>
            <a:pathLst>
              <a:path w="9525" h="267604">
                <a:moveTo>
                  <a:pt x="0" y="267604"/>
                </a:moveTo>
                <a:lnTo>
                  <a:pt x="9525" y="0"/>
                </a:lnTo>
              </a:path>
            </a:pathLst>
          </a:custGeom>
          <a:noFill/>
          <a:ln w="2857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30539" y="4058706"/>
            <a:ext cx="9525" cy="267604"/>
          </a:xfrm>
          <a:custGeom>
            <a:avLst/>
            <a:gdLst/>
            <a:ahLst/>
            <a:cxnLst/>
            <a:rect l="l" t="t" r="r" b="b"/>
            <a:pathLst>
              <a:path w="9525" h="267604">
                <a:moveTo>
                  <a:pt x="0" y="267604"/>
                </a:moveTo>
                <a:lnTo>
                  <a:pt x="9525" y="0"/>
                </a:lnTo>
              </a:path>
            </a:pathLst>
          </a:custGeom>
          <a:noFill/>
          <a:ln w="2857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706881" y="3466543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75960" y="3466543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845039" y="3466543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741421" y="3466543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810499" y="3466543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953305" y="3244398"/>
            <a:ext cx="147233" cy="147233"/>
          </a:xfrm>
          <a:custGeom>
            <a:avLst/>
            <a:gdLst/>
            <a:ahLst/>
            <a:cxnLst/>
            <a:rect l="l" t="t" r="r" b="b"/>
            <a:pathLst>
              <a:path w="147233" h="147233">
                <a:moveTo>
                  <a:pt x="0" y="73617"/>
                </a:moveTo>
                <a:cubicBezTo>
                  <a:pt x="0" y="32960"/>
                  <a:pt x="32960" y="0"/>
                  <a:pt x="73617" y="0"/>
                </a:cubicBezTo>
                <a:cubicBezTo>
                  <a:pt x="114273" y="0"/>
                  <a:pt x="147233" y="32960"/>
                  <a:pt x="147233" y="73617"/>
                </a:cubicBezTo>
                <a:cubicBezTo>
                  <a:pt x="147233" y="114273"/>
                  <a:pt x="114274" y="147233"/>
                  <a:pt x="73617" y="147233"/>
                </a:cubicBezTo>
                <a:cubicBezTo>
                  <a:pt x="32960" y="147233"/>
                  <a:pt x="0" y="114274"/>
                  <a:pt x="0" y="73617"/>
                </a:cubicBezTo>
              </a:path>
            </a:pathLst>
          </a:custGeom>
          <a:solidFill>
            <a:srgbClr val="1570EF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47625" dist="38100" dir="27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987845" y="4179077"/>
            <a:ext cx="147233" cy="147233"/>
          </a:xfrm>
          <a:custGeom>
            <a:avLst/>
            <a:gdLst/>
            <a:ahLst/>
            <a:cxnLst/>
            <a:rect l="l" t="t" r="r" b="b"/>
            <a:pathLst>
              <a:path w="147233" h="147233">
                <a:moveTo>
                  <a:pt x="0" y="73617"/>
                </a:moveTo>
                <a:cubicBezTo>
                  <a:pt x="0" y="32960"/>
                  <a:pt x="32960" y="0"/>
                  <a:pt x="73617" y="0"/>
                </a:cubicBezTo>
                <a:cubicBezTo>
                  <a:pt x="114273" y="0"/>
                  <a:pt x="147233" y="32960"/>
                  <a:pt x="147233" y="73617"/>
                </a:cubicBezTo>
                <a:cubicBezTo>
                  <a:pt x="147233" y="114273"/>
                  <a:pt x="114274" y="147233"/>
                  <a:pt x="73617" y="147233"/>
                </a:cubicBezTo>
                <a:cubicBezTo>
                  <a:pt x="32960" y="147233"/>
                  <a:pt x="0" y="114274"/>
                  <a:pt x="0" y="73617"/>
                </a:cubicBezTo>
              </a:path>
            </a:pathLst>
          </a:custGeom>
          <a:solidFill>
            <a:srgbClr val="1570EF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47625" dist="38100" dir="27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22384" y="3244398"/>
            <a:ext cx="147233" cy="147233"/>
          </a:xfrm>
          <a:custGeom>
            <a:avLst/>
            <a:gdLst/>
            <a:ahLst/>
            <a:cxnLst/>
            <a:rect l="l" t="t" r="r" b="b"/>
            <a:pathLst>
              <a:path w="147233" h="147233">
                <a:moveTo>
                  <a:pt x="0" y="73617"/>
                </a:moveTo>
                <a:cubicBezTo>
                  <a:pt x="0" y="32960"/>
                  <a:pt x="32960" y="0"/>
                  <a:pt x="73617" y="0"/>
                </a:cubicBezTo>
                <a:cubicBezTo>
                  <a:pt x="114273" y="0"/>
                  <a:pt x="147233" y="32960"/>
                  <a:pt x="147233" y="73617"/>
                </a:cubicBezTo>
                <a:cubicBezTo>
                  <a:pt x="147233" y="114273"/>
                  <a:pt x="114274" y="147233"/>
                  <a:pt x="73617" y="147233"/>
                </a:cubicBezTo>
                <a:cubicBezTo>
                  <a:pt x="32960" y="147233"/>
                  <a:pt x="0" y="114274"/>
                  <a:pt x="0" y="73617"/>
                </a:cubicBezTo>
              </a:path>
            </a:pathLst>
          </a:custGeom>
          <a:solidFill>
            <a:srgbClr val="1570EF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47625" dist="38100" dir="27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056923" y="4179077"/>
            <a:ext cx="147233" cy="147233"/>
          </a:xfrm>
          <a:custGeom>
            <a:avLst/>
            <a:gdLst/>
            <a:ahLst/>
            <a:cxnLst/>
            <a:rect l="l" t="t" r="r" b="b"/>
            <a:pathLst>
              <a:path w="147233" h="147233">
                <a:moveTo>
                  <a:pt x="0" y="73617"/>
                </a:moveTo>
                <a:cubicBezTo>
                  <a:pt x="0" y="32960"/>
                  <a:pt x="32960" y="0"/>
                  <a:pt x="73617" y="0"/>
                </a:cubicBezTo>
                <a:cubicBezTo>
                  <a:pt x="114273" y="0"/>
                  <a:pt x="147233" y="32960"/>
                  <a:pt x="147233" y="73617"/>
                </a:cubicBezTo>
                <a:cubicBezTo>
                  <a:pt x="147233" y="114273"/>
                  <a:pt x="114274" y="147233"/>
                  <a:pt x="73617" y="147233"/>
                </a:cubicBezTo>
                <a:cubicBezTo>
                  <a:pt x="32960" y="147233"/>
                  <a:pt x="0" y="114274"/>
                  <a:pt x="0" y="73617"/>
                </a:cubicBezTo>
              </a:path>
            </a:pathLst>
          </a:custGeom>
          <a:solidFill>
            <a:srgbClr val="1570EF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47625" dist="38100" dir="27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091463" y="3244398"/>
            <a:ext cx="147233" cy="147233"/>
          </a:xfrm>
          <a:custGeom>
            <a:avLst/>
            <a:gdLst/>
            <a:ahLst/>
            <a:cxnLst/>
            <a:rect l="l" t="t" r="r" b="b"/>
            <a:pathLst>
              <a:path w="147233" h="147233">
                <a:moveTo>
                  <a:pt x="0" y="73617"/>
                </a:moveTo>
                <a:cubicBezTo>
                  <a:pt x="0" y="32960"/>
                  <a:pt x="32960" y="0"/>
                  <a:pt x="73617" y="0"/>
                </a:cubicBezTo>
                <a:cubicBezTo>
                  <a:pt x="114273" y="0"/>
                  <a:pt x="147233" y="32960"/>
                  <a:pt x="147233" y="73617"/>
                </a:cubicBezTo>
                <a:cubicBezTo>
                  <a:pt x="147233" y="114273"/>
                  <a:pt x="114274" y="147233"/>
                  <a:pt x="73617" y="147233"/>
                </a:cubicBezTo>
                <a:cubicBezTo>
                  <a:pt x="32960" y="147233"/>
                  <a:pt x="0" y="114274"/>
                  <a:pt x="0" y="73617"/>
                </a:cubicBezTo>
              </a:path>
            </a:pathLst>
          </a:custGeom>
          <a:solidFill>
            <a:srgbClr val="1570EF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47625" dist="38100" dir="27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完整招聘流程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智能招聘管理与数据分析平台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8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027929" y="3649423"/>
            <a:ext cx="274300" cy="274320"/>
          </a:xfrm>
          <a:custGeom>
            <a:avLst/>
            <a:gdLst/>
            <a:ahLst/>
            <a:cxnLst/>
            <a:rect l="l" t="t" r="r" b="b"/>
            <a:pathLst>
              <a:path w="274300" h="274320">
                <a:moveTo>
                  <a:pt x="19519" y="193264"/>
                </a:moveTo>
                <a:lnTo>
                  <a:pt x="7184" y="235150"/>
                </a:lnTo>
                <a:lnTo>
                  <a:pt x="535" y="257784"/>
                </a:lnTo>
                <a:cubicBezTo>
                  <a:pt x="-806" y="262343"/>
                  <a:pt x="428" y="267223"/>
                  <a:pt x="3752" y="270548"/>
                </a:cubicBezTo>
                <a:cubicBezTo>
                  <a:pt x="7077" y="273873"/>
                  <a:pt x="11959" y="275107"/>
                  <a:pt x="16464" y="273821"/>
                </a:cubicBezTo>
                <a:lnTo>
                  <a:pt x="39151" y="267116"/>
                </a:lnTo>
                <a:lnTo>
                  <a:pt x="81037" y="254780"/>
                </a:lnTo>
                <a:cubicBezTo>
                  <a:pt x="87686" y="252849"/>
                  <a:pt x="93748" y="249469"/>
                  <a:pt x="98949" y="244913"/>
                </a:cubicBezTo>
                <a:cubicBezTo>
                  <a:pt x="99700" y="244268"/>
                  <a:pt x="100397" y="243571"/>
                  <a:pt x="101094" y="242875"/>
                </a:cubicBezTo>
                <a:lnTo>
                  <a:pt x="264242" y="79778"/>
                </a:lnTo>
                <a:cubicBezTo>
                  <a:pt x="275988" y="68031"/>
                  <a:pt x="277436" y="49959"/>
                  <a:pt x="268639" y="36602"/>
                </a:cubicBezTo>
                <a:cubicBezTo>
                  <a:pt x="267405" y="34726"/>
                  <a:pt x="265904" y="32902"/>
                  <a:pt x="264242" y="31240"/>
                </a:cubicBezTo>
                <a:lnTo>
                  <a:pt x="243110" y="10054"/>
                </a:lnTo>
                <a:cubicBezTo>
                  <a:pt x="229702" y="-3355"/>
                  <a:pt x="207980" y="-3355"/>
                  <a:pt x="194572" y="10054"/>
                </a:cubicBezTo>
                <a:lnTo>
                  <a:pt x="31424" y="173203"/>
                </a:lnTo>
                <a:cubicBezTo>
                  <a:pt x="25848" y="178780"/>
                  <a:pt x="21771" y="185698"/>
                  <a:pt x="19517" y="193261"/>
                </a:cubicBezTo>
                <a:lnTo>
                  <a:pt x="19519" y="193264"/>
                </a:lnTo>
                <a:moveTo>
                  <a:pt x="44190" y="200503"/>
                </a:moveTo>
                <a:cubicBezTo>
                  <a:pt x="45100" y="197499"/>
                  <a:pt x="46604" y="194710"/>
                  <a:pt x="48694" y="192350"/>
                </a:cubicBezTo>
                <a:cubicBezTo>
                  <a:pt x="49015" y="192029"/>
                  <a:pt x="49284" y="191706"/>
                  <a:pt x="49604" y="191385"/>
                </a:cubicBezTo>
                <a:lnTo>
                  <a:pt x="172154" y="68890"/>
                </a:lnTo>
                <a:lnTo>
                  <a:pt x="205404" y="102143"/>
                </a:lnTo>
                <a:lnTo>
                  <a:pt x="82907" y="224693"/>
                </a:lnTo>
                <a:cubicBezTo>
                  <a:pt x="80387" y="227214"/>
                  <a:pt x="77221" y="229090"/>
                  <a:pt x="73790" y="230111"/>
                </a:cubicBezTo>
                <a:lnTo>
                  <a:pt x="61240" y="233811"/>
                </a:lnTo>
                <a:lnTo>
                  <a:pt x="31849" y="242447"/>
                </a:lnTo>
                <a:lnTo>
                  <a:pt x="40484" y="213056"/>
                </a:lnTo>
                <a:lnTo>
                  <a:pt x="44190" y="200503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993379" y="3666568"/>
            <a:ext cx="274320" cy="240030"/>
          </a:xfrm>
          <a:custGeom>
            <a:avLst/>
            <a:gdLst/>
            <a:ahLst/>
            <a:cxnLst/>
            <a:rect l="l" t="t" r="r" b="b"/>
            <a:pathLst>
              <a:path w="274320" h="240030">
                <a:moveTo>
                  <a:pt x="0" y="22342"/>
                </a:moveTo>
                <a:cubicBezTo>
                  <a:pt x="0" y="10019"/>
                  <a:pt x="10018" y="0"/>
                  <a:pt x="22343" y="0"/>
                </a:cubicBezTo>
                <a:lnTo>
                  <a:pt x="251979" y="0"/>
                </a:lnTo>
                <a:cubicBezTo>
                  <a:pt x="264302" y="0"/>
                  <a:pt x="274323" y="10019"/>
                  <a:pt x="274323" y="22342"/>
                </a:cubicBezTo>
                <a:cubicBezTo>
                  <a:pt x="274323" y="27486"/>
                  <a:pt x="272553" y="32469"/>
                  <a:pt x="269286" y="36434"/>
                </a:cubicBezTo>
                <a:lnTo>
                  <a:pt x="180025" y="146001"/>
                </a:lnTo>
                <a:lnTo>
                  <a:pt x="180025" y="222724"/>
                </a:lnTo>
                <a:cubicBezTo>
                  <a:pt x="180025" y="232260"/>
                  <a:pt x="172256" y="240030"/>
                  <a:pt x="162718" y="240030"/>
                </a:cubicBezTo>
                <a:cubicBezTo>
                  <a:pt x="158807" y="240030"/>
                  <a:pt x="155005" y="238691"/>
                  <a:pt x="151949" y="236281"/>
                </a:cubicBezTo>
                <a:lnTo>
                  <a:pt x="102390" y="196954"/>
                </a:lnTo>
                <a:cubicBezTo>
                  <a:pt x="97246" y="192883"/>
                  <a:pt x="94300" y="186722"/>
                  <a:pt x="94300" y="180183"/>
                </a:cubicBezTo>
                <a:lnTo>
                  <a:pt x="94300" y="146053"/>
                </a:lnTo>
                <a:lnTo>
                  <a:pt x="5039" y="36432"/>
                </a:lnTo>
                <a:cubicBezTo>
                  <a:pt x="1772" y="32467"/>
                  <a:pt x="3" y="27483"/>
                  <a:pt x="3" y="22340"/>
                </a:cubicBezTo>
                <a:lnTo>
                  <a:pt x="0" y="22342"/>
                </a:lnTo>
                <a:moveTo>
                  <a:pt x="29467" y="25717"/>
                </a:moveTo>
                <a:lnTo>
                  <a:pt x="117121" y="133301"/>
                </a:lnTo>
                <a:cubicBezTo>
                  <a:pt x="118997" y="135605"/>
                  <a:pt x="120015" y="138445"/>
                  <a:pt x="120015" y="141445"/>
                </a:cubicBezTo>
                <a:lnTo>
                  <a:pt x="120015" y="178093"/>
                </a:lnTo>
                <a:lnTo>
                  <a:pt x="154305" y="205310"/>
                </a:lnTo>
                <a:lnTo>
                  <a:pt x="154305" y="141445"/>
                </a:lnTo>
                <a:cubicBezTo>
                  <a:pt x="154305" y="138497"/>
                  <a:pt x="155323" y="135605"/>
                  <a:pt x="157199" y="133301"/>
                </a:cubicBezTo>
                <a:lnTo>
                  <a:pt x="244853" y="25717"/>
                </a:lnTo>
                <a:lnTo>
                  <a:pt x="29467" y="25717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958840" y="3676846"/>
            <a:ext cx="274320" cy="219474"/>
          </a:xfrm>
          <a:custGeom>
            <a:avLst/>
            <a:gdLst/>
            <a:ahLst/>
            <a:cxnLst/>
            <a:rect l="l" t="t" r="r" b="b"/>
            <a:pathLst>
              <a:path w="274320" h="219474">
                <a:moveTo>
                  <a:pt x="20574" y="30860"/>
                </a:moveTo>
                <a:cubicBezTo>
                  <a:pt x="20574" y="25160"/>
                  <a:pt x="25161" y="20574"/>
                  <a:pt x="30861" y="20574"/>
                </a:cubicBezTo>
                <a:lnTo>
                  <a:pt x="147447" y="20574"/>
                </a:lnTo>
                <a:cubicBezTo>
                  <a:pt x="153147" y="20574"/>
                  <a:pt x="157734" y="25161"/>
                  <a:pt x="157734" y="30860"/>
                </a:cubicBezTo>
                <a:lnTo>
                  <a:pt x="157734" y="106298"/>
                </a:lnTo>
                <a:cubicBezTo>
                  <a:pt x="157734" y="111998"/>
                  <a:pt x="153147" y="116585"/>
                  <a:pt x="147447" y="116585"/>
                </a:cubicBezTo>
                <a:lnTo>
                  <a:pt x="92583" y="116585"/>
                </a:lnTo>
                <a:cubicBezTo>
                  <a:pt x="90570" y="116585"/>
                  <a:pt x="88553" y="117184"/>
                  <a:pt x="86883" y="118299"/>
                </a:cubicBezTo>
                <a:lnTo>
                  <a:pt x="61722" y="135102"/>
                </a:lnTo>
                <a:lnTo>
                  <a:pt x="61722" y="126871"/>
                </a:lnTo>
                <a:cubicBezTo>
                  <a:pt x="61722" y="121172"/>
                  <a:pt x="57135" y="116585"/>
                  <a:pt x="51435" y="116585"/>
                </a:cubicBezTo>
                <a:lnTo>
                  <a:pt x="30861" y="116585"/>
                </a:lnTo>
                <a:cubicBezTo>
                  <a:pt x="25161" y="116585"/>
                  <a:pt x="20574" y="111998"/>
                  <a:pt x="20574" y="106298"/>
                </a:cubicBezTo>
                <a:lnTo>
                  <a:pt x="20574" y="30860"/>
                </a:lnTo>
                <a:moveTo>
                  <a:pt x="30861" y="0"/>
                </a:moveTo>
                <a:cubicBezTo>
                  <a:pt x="13801" y="0"/>
                  <a:pt x="0" y="13803"/>
                  <a:pt x="0" y="30860"/>
                </a:cubicBezTo>
                <a:lnTo>
                  <a:pt x="0" y="106298"/>
                </a:lnTo>
                <a:cubicBezTo>
                  <a:pt x="0" y="123358"/>
                  <a:pt x="13801" y="137158"/>
                  <a:pt x="30861" y="137158"/>
                </a:cubicBezTo>
                <a:lnTo>
                  <a:pt x="41148" y="137158"/>
                </a:lnTo>
                <a:lnTo>
                  <a:pt x="41148" y="154303"/>
                </a:lnTo>
                <a:cubicBezTo>
                  <a:pt x="41148" y="158118"/>
                  <a:pt x="43249" y="161590"/>
                  <a:pt x="46590" y="163390"/>
                </a:cubicBezTo>
                <a:cubicBezTo>
                  <a:pt x="49934" y="165189"/>
                  <a:pt x="54005" y="164976"/>
                  <a:pt x="57135" y="162876"/>
                </a:cubicBezTo>
                <a:lnTo>
                  <a:pt x="95713" y="137158"/>
                </a:lnTo>
                <a:lnTo>
                  <a:pt x="147447" y="137158"/>
                </a:lnTo>
                <a:cubicBezTo>
                  <a:pt x="164507" y="137158"/>
                  <a:pt x="178308" y="123355"/>
                  <a:pt x="178308" y="106298"/>
                </a:cubicBezTo>
                <a:lnTo>
                  <a:pt x="178308" y="30860"/>
                </a:lnTo>
                <a:cubicBezTo>
                  <a:pt x="178308" y="13800"/>
                  <a:pt x="164507" y="0"/>
                  <a:pt x="147447" y="0"/>
                </a:cubicBezTo>
                <a:lnTo>
                  <a:pt x="30861" y="0"/>
                </a:lnTo>
                <a:moveTo>
                  <a:pt x="109728" y="161162"/>
                </a:moveTo>
                <a:cubicBezTo>
                  <a:pt x="109728" y="178222"/>
                  <a:pt x="123529" y="192022"/>
                  <a:pt x="140589" y="192022"/>
                </a:cubicBezTo>
                <a:lnTo>
                  <a:pt x="178607" y="192022"/>
                </a:lnTo>
                <a:lnTo>
                  <a:pt x="217185" y="217740"/>
                </a:lnTo>
                <a:cubicBezTo>
                  <a:pt x="220356" y="219841"/>
                  <a:pt x="224385" y="220056"/>
                  <a:pt x="227729" y="218254"/>
                </a:cubicBezTo>
                <a:cubicBezTo>
                  <a:pt x="231073" y="216454"/>
                  <a:pt x="233172" y="212982"/>
                  <a:pt x="233172" y="209168"/>
                </a:cubicBezTo>
                <a:lnTo>
                  <a:pt x="233172" y="192022"/>
                </a:lnTo>
                <a:lnTo>
                  <a:pt x="243459" y="192022"/>
                </a:lnTo>
                <a:cubicBezTo>
                  <a:pt x="260519" y="192022"/>
                  <a:pt x="274320" y="178220"/>
                  <a:pt x="274320" y="161162"/>
                </a:cubicBezTo>
                <a:lnTo>
                  <a:pt x="274320" y="85725"/>
                </a:lnTo>
                <a:cubicBezTo>
                  <a:pt x="274320" y="68665"/>
                  <a:pt x="260519" y="54864"/>
                  <a:pt x="243459" y="54864"/>
                </a:cubicBezTo>
                <a:lnTo>
                  <a:pt x="192024" y="54864"/>
                </a:lnTo>
                <a:lnTo>
                  <a:pt x="192024" y="75438"/>
                </a:lnTo>
                <a:lnTo>
                  <a:pt x="243459" y="75438"/>
                </a:lnTo>
                <a:cubicBezTo>
                  <a:pt x="249159" y="75438"/>
                  <a:pt x="253746" y="80025"/>
                  <a:pt x="253746" y="85725"/>
                </a:cubicBezTo>
                <a:lnTo>
                  <a:pt x="253746" y="161162"/>
                </a:lnTo>
                <a:cubicBezTo>
                  <a:pt x="253746" y="166862"/>
                  <a:pt x="249159" y="171449"/>
                  <a:pt x="243459" y="171449"/>
                </a:cubicBezTo>
                <a:lnTo>
                  <a:pt x="222885" y="171449"/>
                </a:lnTo>
                <a:cubicBezTo>
                  <a:pt x="217185" y="171449"/>
                  <a:pt x="212598" y="176036"/>
                  <a:pt x="212598" y="181736"/>
                </a:cubicBezTo>
                <a:lnTo>
                  <a:pt x="212598" y="189966"/>
                </a:lnTo>
                <a:lnTo>
                  <a:pt x="187437" y="173163"/>
                </a:lnTo>
                <a:cubicBezTo>
                  <a:pt x="185767" y="172048"/>
                  <a:pt x="183750" y="171449"/>
                  <a:pt x="181737" y="171449"/>
                </a:cubicBezTo>
                <a:lnTo>
                  <a:pt x="140589" y="171449"/>
                </a:lnTo>
                <a:cubicBezTo>
                  <a:pt x="134889" y="171449"/>
                  <a:pt x="130302" y="166862"/>
                  <a:pt x="130302" y="161162"/>
                </a:cubicBezTo>
                <a:lnTo>
                  <a:pt x="130302" y="150875"/>
                </a:lnTo>
                <a:lnTo>
                  <a:pt x="109728" y="150875"/>
                </a:lnTo>
                <a:lnTo>
                  <a:pt x="109728" y="161162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958591" y="3649423"/>
            <a:ext cx="205740" cy="274320"/>
          </a:xfrm>
          <a:custGeom>
            <a:avLst/>
            <a:gdLst/>
            <a:ahLst/>
            <a:cxnLst/>
            <a:rect l="l" t="t" r="r" b="b"/>
            <a:pathLst>
              <a:path w="205740" h="274320">
                <a:moveTo>
                  <a:pt x="150019" y="34290"/>
                </a:moveTo>
                <a:lnTo>
                  <a:pt x="171451" y="34290"/>
                </a:lnTo>
                <a:cubicBezTo>
                  <a:pt x="190365" y="34290"/>
                  <a:pt x="205742" y="49666"/>
                  <a:pt x="205742" y="68580"/>
                </a:cubicBezTo>
                <a:lnTo>
                  <a:pt x="205742" y="240030"/>
                </a:lnTo>
                <a:cubicBezTo>
                  <a:pt x="205742" y="258944"/>
                  <a:pt x="190365" y="274320"/>
                  <a:pt x="171451" y="274320"/>
                </a:cubicBezTo>
                <a:lnTo>
                  <a:pt x="34291" y="274320"/>
                </a:lnTo>
                <a:cubicBezTo>
                  <a:pt x="15377" y="274320"/>
                  <a:pt x="0" y="258944"/>
                  <a:pt x="0" y="240030"/>
                </a:cubicBezTo>
                <a:lnTo>
                  <a:pt x="0" y="68580"/>
                </a:lnTo>
                <a:cubicBezTo>
                  <a:pt x="0" y="49666"/>
                  <a:pt x="15377" y="34290"/>
                  <a:pt x="34291" y="34290"/>
                </a:cubicBezTo>
                <a:lnTo>
                  <a:pt x="55723" y="34290"/>
                </a:lnTo>
                <a:lnTo>
                  <a:pt x="60866" y="34290"/>
                </a:lnTo>
                <a:cubicBezTo>
                  <a:pt x="64831" y="14734"/>
                  <a:pt x="82138" y="0"/>
                  <a:pt x="102872" y="0"/>
                </a:cubicBezTo>
                <a:cubicBezTo>
                  <a:pt x="123606" y="0"/>
                  <a:pt x="140913" y="14734"/>
                  <a:pt x="144878" y="34290"/>
                </a:cubicBezTo>
                <a:lnTo>
                  <a:pt x="150019" y="34290"/>
                </a:lnTo>
                <a:moveTo>
                  <a:pt x="34291" y="60008"/>
                </a:moveTo>
                <a:cubicBezTo>
                  <a:pt x="29575" y="60008"/>
                  <a:pt x="25718" y="63864"/>
                  <a:pt x="25718" y="68580"/>
                </a:cubicBezTo>
                <a:lnTo>
                  <a:pt x="25718" y="240030"/>
                </a:lnTo>
                <a:cubicBezTo>
                  <a:pt x="25718" y="244746"/>
                  <a:pt x="29575" y="248602"/>
                  <a:pt x="34291" y="248602"/>
                </a:cubicBezTo>
                <a:lnTo>
                  <a:pt x="171451" y="248602"/>
                </a:lnTo>
                <a:cubicBezTo>
                  <a:pt x="176167" y="248602"/>
                  <a:pt x="180025" y="244746"/>
                  <a:pt x="180025" y="240030"/>
                </a:cubicBezTo>
                <a:lnTo>
                  <a:pt x="180025" y="68580"/>
                </a:lnTo>
                <a:cubicBezTo>
                  <a:pt x="180025" y="63864"/>
                  <a:pt x="176167" y="60007"/>
                  <a:pt x="171451" y="60007"/>
                </a:cubicBezTo>
                <a:lnTo>
                  <a:pt x="162878" y="60007"/>
                </a:lnTo>
                <a:lnTo>
                  <a:pt x="162878" y="72868"/>
                </a:lnTo>
                <a:cubicBezTo>
                  <a:pt x="162878" y="79994"/>
                  <a:pt x="157146" y="85728"/>
                  <a:pt x="150019" y="85728"/>
                </a:cubicBezTo>
                <a:lnTo>
                  <a:pt x="102870" y="85728"/>
                </a:lnTo>
                <a:lnTo>
                  <a:pt x="55721" y="85728"/>
                </a:lnTo>
                <a:cubicBezTo>
                  <a:pt x="48594" y="85728"/>
                  <a:pt x="42862" y="79994"/>
                  <a:pt x="42862" y="72870"/>
                </a:cubicBezTo>
                <a:lnTo>
                  <a:pt x="42862" y="60013"/>
                </a:lnTo>
                <a:lnTo>
                  <a:pt x="34291" y="60008"/>
                </a:lnTo>
                <a:moveTo>
                  <a:pt x="102870" y="55723"/>
                </a:moveTo>
                <a:cubicBezTo>
                  <a:pt x="109972" y="55723"/>
                  <a:pt x="115729" y="49965"/>
                  <a:pt x="115729" y="42865"/>
                </a:cubicBezTo>
                <a:cubicBezTo>
                  <a:pt x="115729" y="35763"/>
                  <a:pt x="109972" y="30008"/>
                  <a:pt x="102870" y="30008"/>
                </a:cubicBezTo>
                <a:cubicBezTo>
                  <a:pt x="95768" y="30008"/>
                  <a:pt x="90011" y="35766"/>
                  <a:pt x="90011" y="42868"/>
                </a:cubicBezTo>
                <a:cubicBezTo>
                  <a:pt x="90011" y="49970"/>
                  <a:pt x="95768" y="55728"/>
                  <a:pt x="102870" y="55728"/>
                </a:cubicBezTo>
                <a:lnTo>
                  <a:pt x="102870" y="55723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889761" y="3649460"/>
            <a:ext cx="274320" cy="274246"/>
          </a:xfrm>
          <a:custGeom>
            <a:avLst/>
            <a:gdLst/>
            <a:ahLst/>
            <a:cxnLst/>
            <a:rect l="l" t="t" r="r" b="b"/>
            <a:pathLst>
              <a:path w="274320" h="274246">
                <a:moveTo>
                  <a:pt x="197148" y="111432"/>
                </a:moveTo>
                <a:cubicBezTo>
                  <a:pt x="197148" y="64091"/>
                  <a:pt x="158771" y="25716"/>
                  <a:pt x="111431" y="25716"/>
                </a:cubicBezTo>
                <a:cubicBezTo>
                  <a:pt x="64092" y="25716"/>
                  <a:pt x="25715" y="64091"/>
                  <a:pt x="25715" y="111432"/>
                </a:cubicBezTo>
                <a:cubicBezTo>
                  <a:pt x="25715" y="158772"/>
                  <a:pt x="64092" y="197147"/>
                  <a:pt x="111431" y="197147"/>
                </a:cubicBezTo>
                <a:cubicBezTo>
                  <a:pt x="158771" y="197147"/>
                  <a:pt x="197148" y="158772"/>
                  <a:pt x="197148" y="111432"/>
                </a:cubicBezTo>
                <a:lnTo>
                  <a:pt x="197148" y="111432"/>
                </a:lnTo>
                <a:moveTo>
                  <a:pt x="180593" y="198809"/>
                </a:moveTo>
                <a:cubicBezTo>
                  <a:pt x="161629" y="213863"/>
                  <a:pt x="137574" y="222864"/>
                  <a:pt x="111431" y="222864"/>
                </a:cubicBezTo>
                <a:cubicBezTo>
                  <a:pt x="49877" y="222864"/>
                  <a:pt x="0" y="172986"/>
                  <a:pt x="0" y="111432"/>
                </a:cubicBezTo>
                <a:cubicBezTo>
                  <a:pt x="0" y="49877"/>
                  <a:pt x="49877" y="0"/>
                  <a:pt x="111431" y="0"/>
                </a:cubicBezTo>
                <a:cubicBezTo>
                  <a:pt x="172986" y="0"/>
                  <a:pt x="222863" y="49877"/>
                  <a:pt x="222863" y="111432"/>
                </a:cubicBezTo>
                <a:cubicBezTo>
                  <a:pt x="222863" y="137576"/>
                  <a:pt x="213863" y="161630"/>
                  <a:pt x="198808" y="180594"/>
                </a:cubicBezTo>
                <a:lnTo>
                  <a:pt x="270543" y="252329"/>
                </a:lnTo>
                <a:cubicBezTo>
                  <a:pt x="275579" y="257364"/>
                  <a:pt x="275579" y="265509"/>
                  <a:pt x="270543" y="270489"/>
                </a:cubicBezTo>
                <a:cubicBezTo>
                  <a:pt x="265506" y="275472"/>
                  <a:pt x="257364" y="275524"/>
                  <a:pt x="252383" y="270489"/>
                </a:cubicBezTo>
                <a:lnTo>
                  <a:pt x="180593" y="198809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55477" y="1566155"/>
            <a:ext cx="2380320" cy="1460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候选人来源</a:t>
            </a:r>
            <a:endParaRPr lang="en-US" sz="1200" dirty="0"/>
          </a:p>
          <a:p>
            <a:pPr algn="ctr" marL="142875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02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候选人主动沟通</a:t>
            </a:r>
            <a:endParaRPr lang="en-US" sz="1200" dirty="0"/>
          </a:p>
          <a:p>
            <a:pPr algn="ctr" marL="142875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02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HR主动从人才池筛选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871301" y="4523271"/>
            <a:ext cx="2380320" cy="146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简历筛选</a:t>
            </a:r>
            <a:endParaRPr lang="en-US" sz="1200" dirty="0"/>
          </a:p>
          <a:p>
            <a:pPr algn="ctr" marL="142875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02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HR初步筛选简历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05840" y="1566155"/>
            <a:ext cx="2380320" cy="1460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在线沟通</a:t>
            </a:r>
            <a:endParaRPr lang="en-US" sz="1200" dirty="0"/>
          </a:p>
          <a:p>
            <a:pPr algn="ctr" marL="142875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02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HR与候选人初步沟通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0381" y="4527703"/>
            <a:ext cx="2380320" cy="146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业务部门筛选</a:t>
            </a:r>
            <a:endParaRPr lang="en-US" sz="1200" dirty="0"/>
          </a:p>
          <a:p>
            <a:pPr algn="ctr" marL="142875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02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推送给业务负责人审核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974919" y="1566155"/>
            <a:ext cx="2380320" cy="1460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面试安排</a:t>
            </a:r>
            <a:endParaRPr lang="en-US" sz="1200" dirty="0"/>
          </a:p>
          <a:p>
            <a:pPr algn="ctr" marL="142875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02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一面：初试（记录面试官、评价、结果）</a:t>
            </a:r>
            <a:endParaRPr lang="en-US" sz="1200" dirty="0"/>
          </a:p>
          <a:p>
            <a:pPr algn="ctr" marL="142875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02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二面：复试（记录面试官、评价、结果）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1330261"/>
            <a:ext cx="3474720" cy="475488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57387" y="1330261"/>
            <a:ext cx="3474720" cy="475488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77200" y="1330261"/>
            <a:ext cx="3474720" cy="475488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78" y="1164795"/>
            <a:ext cx="10911841" cy="45719"/>
          </a:xfrm>
          <a:custGeom>
            <a:avLst/>
            <a:gdLst/>
            <a:ahLst/>
            <a:cxnLst/>
            <a:rect l="l" t="t" r="r" b="b"/>
            <a:pathLst>
              <a:path w="10911841" h="45719">
                <a:moveTo>
                  <a:pt x="0" y="0"/>
                </a:moveTo>
                <a:lnTo>
                  <a:pt x="10911841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候选人管理界面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智能招聘管理与数据分析平台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9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305800" y="2897288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实时显示候选人所处阶段</a:t>
            </a:r>
            <a:endParaRPr lang="en-US" sz="1100" dirty="0"/>
          </a:p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每个阶段的操作记录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05800" y="221801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流程状态追踪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00400" y="1624585"/>
            <a:ext cx="468000" cy="409500"/>
          </a:xfrm>
          <a:custGeom>
            <a:avLst/>
            <a:gdLst/>
            <a:ahLst/>
            <a:cxnLst/>
            <a:rect l="l" t="t" r="r" b="b"/>
            <a:pathLst>
              <a:path w="468000" h="409500">
                <a:moveTo>
                  <a:pt x="58500" y="0"/>
                </a:moveTo>
                <a:cubicBezTo>
                  <a:pt x="26231" y="0"/>
                  <a:pt x="0" y="26233"/>
                  <a:pt x="0" y="58501"/>
                </a:cubicBezTo>
                <a:lnTo>
                  <a:pt x="0" y="351003"/>
                </a:lnTo>
                <a:cubicBezTo>
                  <a:pt x="0" y="383268"/>
                  <a:pt x="26231" y="409504"/>
                  <a:pt x="58500" y="409504"/>
                </a:cubicBezTo>
                <a:lnTo>
                  <a:pt x="409500" y="409504"/>
                </a:lnTo>
                <a:cubicBezTo>
                  <a:pt x="441769" y="409504"/>
                  <a:pt x="468000" y="383272"/>
                  <a:pt x="468000" y="351003"/>
                </a:cubicBezTo>
                <a:lnTo>
                  <a:pt x="468000" y="117002"/>
                </a:lnTo>
                <a:cubicBezTo>
                  <a:pt x="468000" y="84738"/>
                  <a:pt x="441769" y="58501"/>
                  <a:pt x="409500" y="58501"/>
                </a:cubicBezTo>
                <a:lnTo>
                  <a:pt x="264986" y="58501"/>
                </a:lnTo>
                <a:lnTo>
                  <a:pt x="225773" y="19287"/>
                </a:lnTo>
                <a:cubicBezTo>
                  <a:pt x="213431" y="6949"/>
                  <a:pt x="196705" y="0"/>
                  <a:pt x="179249" y="0"/>
                </a:cubicBezTo>
                <a:lnTo>
                  <a:pt x="58500" y="0"/>
                </a:lnTo>
                <a:moveTo>
                  <a:pt x="43875" y="58501"/>
                </a:moveTo>
                <a:cubicBezTo>
                  <a:pt x="43875" y="50459"/>
                  <a:pt x="50455" y="43878"/>
                  <a:pt x="58500" y="43878"/>
                </a:cubicBezTo>
                <a:lnTo>
                  <a:pt x="179249" y="43878"/>
                </a:lnTo>
                <a:cubicBezTo>
                  <a:pt x="185099" y="43878"/>
                  <a:pt x="190673" y="46163"/>
                  <a:pt x="194786" y="50278"/>
                </a:cubicBezTo>
                <a:lnTo>
                  <a:pt x="236195" y="91687"/>
                </a:lnTo>
                <a:cubicBezTo>
                  <a:pt x="243051" y="98542"/>
                  <a:pt x="252374" y="102383"/>
                  <a:pt x="262061" y="102383"/>
                </a:cubicBezTo>
                <a:lnTo>
                  <a:pt x="409500" y="102383"/>
                </a:lnTo>
                <a:cubicBezTo>
                  <a:pt x="417545" y="102383"/>
                  <a:pt x="424125" y="108964"/>
                  <a:pt x="424125" y="117006"/>
                </a:cubicBezTo>
                <a:lnTo>
                  <a:pt x="424125" y="351007"/>
                </a:lnTo>
                <a:cubicBezTo>
                  <a:pt x="424125" y="359050"/>
                  <a:pt x="417545" y="365630"/>
                  <a:pt x="409500" y="365630"/>
                </a:cubicBezTo>
                <a:lnTo>
                  <a:pt x="58500" y="365630"/>
                </a:lnTo>
                <a:cubicBezTo>
                  <a:pt x="50455" y="365630"/>
                  <a:pt x="43875" y="359050"/>
                  <a:pt x="43875" y="351007"/>
                </a:cubicBezTo>
                <a:lnTo>
                  <a:pt x="43875" y="58501"/>
                </a:lnTo>
                <a:moveTo>
                  <a:pt x="337288" y="191040"/>
                </a:moveTo>
                <a:cubicBezTo>
                  <a:pt x="345880" y="182449"/>
                  <a:pt x="345880" y="168554"/>
                  <a:pt x="337288" y="160053"/>
                </a:cubicBezTo>
                <a:cubicBezTo>
                  <a:pt x="328695" y="151552"/>
                  <a:pt x="314800" y="151462"/>
                  <a:pt x="306301" y="160053"/>
                </a:cubicBezTo>
                <a:lnTo>
                  <a:pt x="204839" y="261515"/>
                </a:lnTo>
                <a:lnTo>
                  <a:pt x="161877" y="218554"/>
                </a:lnTo>
                <a:cubicBezTo>
                  <a:pt x="153284" y="209963"/>
                  <a:pt x="139389" y="209963"/>
                  <a:pt x="130890" y="218554"/>
                </a:cubicBezTo>
                <a:cubicBezTo>
                  <a:pt x="122391" y="227146"/>
                  <a:pt x="122298" y="241040"/>
                  <a:pt x="130890" y="249541"/>
                </a:cubicBezTo>
                <a:lnTo>
                  <a:pt x="189390" y="308042"/>
                </a:lnTo>
                <a:cubicBezTo>
                  <a:pt x="197983" y="316634"/>
                  <a:pt x="211878" y="316634"/>
                  <a:pt x="220376" y="308042"/>
                </a:cubicBezTo>
                <a:lnTo>
                  <a:pt x="337288" y="19104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85987" y="2897288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点击即可编辑</a:t>
            </a:r>
            <a:endParaRPr lang="en-US" sz="1100" dirty="0"/>
          </a:p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日期选择器 + 时间选择器</a:t>
            </a:r>
            <a:endParaRPr lang="en-US" sz="1100" dirty="0"/>
          </a:p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格式：2024-01-15 14:30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85987" y="221801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面试时间编辑（重点）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14562" y="1595335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135733" y="21434"/>
                </a:moveTo>
                <a:cubicBezTo>
                  <a:pt x="135733" y="9555"/>
                  <a:pt x="126180" y="5"/>
                  <a:pt x="114302" y="5"/>
                </a:cubicBezTo>
                <a:cubicBezTo>
                  <a:pt x="102425" y="5"/>
                  <a:pt x="92872" y="9560"/>
                  <a:pt x="92872" y="21438"/>
                </a:cubicBezTo>
                <a:lnTo>
                  <a:pt x="92872" y="57159"/>
                </a:lnTo>
                <a:lnTo>
                  <a:pt x="57151" y="57159"/>
                </a:lnTo>
                <a:cubicBezTo>
                  <a:pt x="25631" y="57159"/>
                  <a:pt x="0" y="82785"/>
                  <a:pt x="0" y="114309"/>
                </a:cubicBezTo>
                <a:lnTo>
                  <a:pt x="0" y="128597"/>
                </a:lnTo>
                <a:lnTo>
                  <a:pt x="0" y="171459"/>
                </a:lnTo>
                <a:lnTo>
                  <a:pt x="0" y="400059"/>
                </a:lnTo>
                <a:cubicBezTo>
                  <a:pt x="0" y="431583"/>
                  <a:pt x="25627" y="457209"/>
                  <a:pt x="57151" y="457209"/>
                </a:cubicBezTo>
                <a:lnTo>
                  <a:pt x="342903" y="457209"/>
                </a:lnTo>
                <a:cubicBezTo>
                  <a:pt x="374423" y="457209"/>
                  <a:pt x="400054" y="431583"/>
                  <a:pt x="400054" y="400059"/>
                </a:cubicBezTo>
                <a:lnTo>
                  <a:pt x="400054" y="171459"/>
                </a:lnTo>
                <a:lnTo>
                  <a:pt x="400054" y="128597"/>
                </a:lnTo>
                <a:lnTo>
                  <a:pt x="400054" y="114309"/>
                </a:lnTo>
                <a:cubicBezTo>
                  <a:pt x="400054" y="82785"/>
                  <a:pt x="374427" y="57159"/>
                  <a:pt x="342903" y="57159"/>
                </a:cubicBezTo>
                <a:lnTo>
                  <a:pt x="307182" y="57159"/>
                </a:lnTo>
                <a:lnTo>
                  <a:pt x="307182" y="21443"/>
                </a:lnTo>
                <a:cubicBezTo>
                  <a:pt x="307182" y="9565"/>
                  <a:pt x="297629" y="14"/>
                  <a:pt x="285752" y="14"/>
                </a:cubicBezTo>
                <a:cubicBezTo>
                  <a:pt x="273874" y="14"/>
                  <a:pt x="264321" y="9569"/>
                  <a:pt x="264321" y="21447"/>
                </a:cubicBezTo>
                <a:lnTo>
                  <a:pt x="264321" y="57168"/>
                </a:lnTo>
                <a:lnTo>
                  <a:pt x="135733" y="57168"/>
                </a:lnTo>
                <a:lnTo>
                  <a:pt x="135733" y="21434"/>
                </a:lnTo>
                <a:moveTo>
                  <a:pt x="42861" y="171450"/>
                </a:moveTo>
                <a:lnTo>
                  <a:pt x="357185" y="171450"/>
                </a:lnTo>
                <a:lnTo>
                  <a:pt x="357185" y="400050"/>
                </a:lnTo>
                <a:cubicBezTo>
                  <a:pt x="357185" y="407909"/>
                  <a:pt x="350756" y="414338"/>
                  <a:pt x="342899" y="414338"/>
                </a:cubicBezTo>
                <a:lnTo>
                  <a:pt x="57147" y="414338"/>
                </a:lnTo>
                <a:cubicBezTo>
                  <a:pt x="49290" y="414338"/>
                  <a:pt x="42861" y="407909"/>
                  <a:pt x="42861" y="400050"/>
                </a:cubicBezTo>
                <a:lnTo>
                  <a:pt x="42861" y="17145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68680" y="2897288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姓名、电话、邮箱、应聘岗位</a:t>
            </a:r>
            <a:endParaRPr lang="en-US" sz="1100" dirty="0"/>
          </a:p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简历附件、来源渠道</a:t>
            </a:r>
            <a:endParaRPr lang="en-US" sz="1100" dirty="0"/>
          </a:p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当前流程状态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221801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基本信息管理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1620735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03198" y="0"/>
                </a:moveTo>
                <a:cubicBezTo>
                  <a:pt x="189148" y="0"/>
                  <a:pt x="177796" y="11351"/>
                  <a:pt x="177796" y="25400"/>
                </a:cubicBezTo>
                <a:lnTo>
                  <a:pt x="177796" y="76200"/>
                </a:lnTo>
                <a:cubicBezTo>
                  <a:pt x="177796" y="90249"/>
                  <a:pt x="189148" y="101600"/>
                  <a:pt x="203198" y="101600"/>
                </a:cubicBezTo>
                <a:lnTo>
                  <a:pt x="253997" y="101600"/>
                </a:lnTo>
                <a:cubicBezTo>
                  <a:pt x="268047" y="101600"/>
                  <a:pt x="279399" y="90249"/>
                  <a:pt x="279399" y="76200"/>
                </a:cubicBezTo>
                <a:lnTo>
                  <a:pt x="279399" y="25400"/>
                </a:lnTo>
                <a:cubicBezTo>
                  <a:pt x="279399" y="11351"/>
                  <a:pt x="268047" y="0"/>
                  <a:pt x="253997" y="0"/>
                </a:cubicBezTo>
                <a:lnTo>
                  <a:pt x="203198" y="0"/>
                </a:lnTo>
                <a:moveTo>
                  <a:pt x="152398" y="50800"/>
                </a:moveTo>
                <a:lnTo>
                  <a:pt x="50799" y="50800"/>
                </a:lnTo>
                <a:cubicBezTo>
                  <a:pt x="22782" y="50800"/>
                  <a:pt x="0" y="73579"/>
                  <a:pt x="0" y="101600"/>
                </a:cubicBezTo>
                <a:lnTo>
                  <a:pt x="0" y="355600"/>
                </a:lnTo>
                <a:cubicBezTo>
                  <a:pt x="0" y="383621"/>
                  <a:pt x="22782" y="406400"/>
                  <a:pt x="50799" y="406400"/>
                </a:cubicBezTo>
                <a:lnTo>
                  <a:pt x="406401" y="406400"/>
                </a:lnTo>
                <a:cubicBezTo>
                  <a:pt x="434418" y="406400"/>
                  <a:pt x="457200" y="383621"/>
                  <a:pt x="457200" y="355600"/>
                </a:cubicBezTo>
                <a:lnTo>
                  <a:pt x="457200" y="101600"/>
                </a:lnTo>
                <a:cubicBezTo>
                  <a:pt x="457200" y="73579"/>
                  <a:pt x="434418" y="50800"/>
                  <a:pt x="406401" y="50800"/>
                </a:cubicBezTo>
                <a:lnTo>
                  <a:pt x="304802" y="50800"/>
                </a:lnTo>
                <a:lnTo>
                  <a:pt x="304802" y="88900"/>
                </a:lnTo>
                <a:lnTo>
                  <a:pt x="406401" y="88900"/>
                </a:lnTo>
                <a:cubicBezTo>
                  <a:pt x="413387" y="88900"/>
                  <a:pt x="419102" y="94614"/>
                  <a:pt x="419102" y="101600"/>
                </a:cubicBezTo>
                <a:lnTo>
                  <a:pt x="419102" y="355600"/>
                </a:lnTo>
                <a:cubicBezTo>
                  <a:pt x="419102" y="362586"/>
                  <a:pt x="413387" y="368300"/>
                  <a:pt x="406401" y="368300"/>
                </a:cubicBezTo>
                <a:lnTo>
                  <a:pt x="50799" y="368300"/>
                </a:lnTo>
                <a:cubicBezTo>
                  <a:pt x="43813" y="368300"/>
                  <a:pt x="38098" y="362586"/>
                  <a:pt x="38098" y="355600"/>
                </a:cubicBezTo>
                <a:lnTo>
                  <a:pt x="38098" y="101600"/>
                </a:lnTo>
                <a:cubicBezTo>
                  <a:pt x="38098" y="94614"/>
                  <a:pt x="43813" y="88900"/>
                  <a:pt x="50799" y="88900"/>
                </a:cubicBezTo>
                <a:lnTo>
                  <a:pt x="152398" y="88900"/>
                </a:lnTo>
                <a:lnTo>
                  <a:pt x="152398" y="50800"/>
                </a:lnTo>
                <a:moveTo>
                  <a:pt x="228600" y="241300"/>
                </a:moveTo>
                <a:cubicBezTo>
                  <a:pt x="256654" y="241300"/>
                  <a:pt x="279399" y="218558"/>
                  <a:pt x="279399" y="190500"/>
                </a:cubicBezTo>
                <a:cubicBezTo>
                  <a:pt x="279399" y="162442"/>
                  <a:pt x="256654" y="139700"/>
                  <a:pt x="228600" y="139700"/>
                </a:cubicBezTo>
                <a:cubicBezTo>
                  <a:pt x="200546" y="139700"/>
                  <a:pt x="177801" y="162442"/>
                  <a:pt x="177801" y="190500"/>
                </a:cubicBezTo>
                <a:cubicBezTo>
                  <a:pt x="177801" y="218558"/>
                  <a:pt x="200546" y="241300"/>
                  <a:pt x="228600" y="241300"/>
                </a:cubicBezTo>
                <a:moveTo>
                  <a:pt x="203198" y="266700"/>
                </a:moveTo>
                <a:cubicBezTo>
                  <a:pt x="168112" y="266700"/>
                  <a:pt x="139697" y="295115"/>
                  <a:pt x="139697" y="330200"/>
                </a:cubicBezTo>
                <a:cubicBezTo>
                  <a:pt x="139697" y="337186"/>
                  <a:pt x="145412" y="342900"/>
                  <a:pt x="152398" y="342900"/>
                </a:cubicBezTo>
                <a:lnTo>
                  <a:pt x="304797" y="342900"/>
                </a:lnTo>
                <a:cubicBezTo>
                  <a:pt x="311783" y="342900"/>
                  <a:pt x="317498" y="337186"/>
                  <a:pt x="317498" y="330200"/>
                </a:cubicBezTo>
                <a:cubicBezTo>
                  <a:pt x="317498" y="295116"/>
                  <a:pt x="289083" y="266700"/>
                  <a:pt x="253997" y="266700"/>
                </a:cubicBezTo>
                <a:lnTo>
                  <a:pt x="203198" y="26670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63289" y="1552352"/>
          <a:ext cx="8321040" cy="4029740"/>
        </p:xfrm>
        <a:graphic>
          <a:graphicData uri="http://schemas.openxmlformats.org/drawingml/2006/table">
            <a:tbl>
              <a:tblPr/>
              <a:tblGrid>
                <a:gridCol w="4160520"/>
                <a:gridCol w="4160520"/>
              </a:tblGrid>
              <a:tr h="671623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83333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Figtree Bold" pitchFamily="34" charset="0"/>
                          <a:ea typeface="Figtree Bold" pitchFamily="34" charset="-122"/>
                          <a:cs typeface="Figtree Bold" pitchFamily="34" charset="-120"/>
                        </a:rPr>
                        <a:t>字段</a:t>
                      </a:r>
                      <a:endParaRPr lang="en-US" sz="1200" dirty="0"/>
                    </a:p>
                  </a:txBody>
                  <a:tcPr marL="68400" marR="68400" marT="68400" marB="68400" anchor="ctr">
                    <a:lnL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70E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83333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Figtree Bold" pitchFamily="34" charset="0"/>
                          <a:ea typeface="Figtree Bold" pitchFamily="34" charset="-122"/>
                          <a:cs typeface="Figtree Bold" pitchFamily="34" charset="-120"/>
                        </a:rPr>
                        <a:t>说明</a:t>
                      </a:r>
                      <a:endParaRPr lang="en-US" sz="1200" dirty="0"/>
                    </a:p>
                  </a:txBody>
                  <a:tcPr marL="68400" marR="68400" marT="68400" marB="68400" anchor="ctr">
                    <a:lnL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70EF"/>
                    </a:solidFill>
                  </a:tcPr>
                </a:tc>
              </a:tr>
              <a:tr h="671623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83333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Figtree Regular" pitchFamily="34" charset="0"/>
                          <a:ea typeface="Figtree Regular" pitchFamily="34" charset="-122"/>
                          <a:cs typeface="Figtree Regular" pitchFamily="34" charset="-120"/>
                        </a:rPr>
                        <a:t>面试轮次</a:t>
                      </a:r>
                      <a:endParaRPr lang="en-US" sz="1200" dirty="0"/>
                    </a:p>
                  </a:txBody>
                  <a:tcPr marL="68400" marR="68400" marT="68400" marB="68400" anchor="ctr">
                    <a:lnL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83333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Figtree Regular" pitchFamily="34" charset="0"/>
                          <a:ea typeface="Figtree Regular" pitchFamily="34" charset="-122"/>
                          <a:cs typeface="Figtree Regular" pitchFamily="34" charset="-120"/>
                        </a:rPr>
                        <a:t>一面/二面/三面</a:t>
                      </a:r>
                      <a:endParaRPr lang="en-US" sz="1200" dirty="0"/>
                    </a:p>
                  </a:txBody>
                  <a:tcPr marL="68400" marR="68400" marT="68400" marB="68400" anchor="ctr">
                    <a:lnL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1623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83333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Figtree Regular" pitchFamily="34" charset="0"/>
                          <a:ea typeface="Figtree Regular" pitchFamily="34" charset="-122"/>
                          <a:cs typeface="Figtree Regular" pitchFamily="34" charset="-120"/>
                        </a:rPr>
                        <a:t>面试时间</a:t>
                      </a:r>
                      <a:endParaRPr lang="en-US" sz="1200" dirty="0"/>
                    </a:p>
                  </a:txBody>
                  <a:tcPr marL="68400" marR="68400" marT="68400" marB="68400" anchor="ctr">
                    <a:lnL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2F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83333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Figtree Regular" pitchFamily="34" charset="0"/>
                          <a:ea typeface="Figtree Regular" pitchFamily="34" charset="-122"/>
                          <a:cs typeface="Figtree Regular" pitchFamily="34" charset="-120"/>
                        </a:rPr>
                        <a:t>可点击编辑（日期+时间）</a:t>
                      </a:r>
                      <a:endParaRPr lang="en-US" sz="1200" dirty="0"/>
                    </a:p>
                  </a:txBody>
                  <a:tcPr marL="68400" marR="68400" marT="68400" marB="68400" anchor="ctr">
                    <a:lnL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2FC"/>
                    </a:solidFill>
                  </a:tcPr>
                </a:tc>
              </a:tr>
              <a:tr h="671623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83333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Figtree Regular" pitchFamily="34" charset="0"/>
                          <a:ea typeface="Figtree Regular" pitchFamily="34" charset="-122"/>
                          <a:cs typeface="Figtree Regular" pitchFamily="34" charset="-120"/>
                        </a:rPr>
                        <a:t>面试官</a:t>
                      </a:r>
                      <a:endParaRPr lang="en-US" sz="1200" dirty="0"/>
                    </a:p>
                  </a:txBody>
                  <a:tcPr marL="68400" marR="68400" marT="68400" marB="68400" anchor="ctr">
                    <a:lnL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83333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Figtree Regular" pitchFamily="34" charset="0"/>
                          <a:ea typeface="Figtree Regular" pitchFamily="34" charset="-122"/>
                          <a:cs typeface="Figtree Regular" pitchFamily="34" charset="-120"/>
                        </a:rPr>
                        <a:t>负责面试的人员</a:t>
                      </a:r>
                      <a:endParaRPr lang="en-US" sz="1200" dirty="0"/>
                    </a:p>
                  </a:txBody>
                  <a:tcPr marL="68400" marR="68400" marT="68400" marB="68400" anchor="ctr">
                    <a:lnL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1623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83333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Figtree Regular" pitchFamily="34" charset="0"/>
                          <a:ea typeface="Figtree Regular" pitchFamily="34" charset="-122"/>
                          <a:cs typeface="Figtree Regular" pitchFamily="34" charset="-120"/>
                        </a:rPr>
                        <a:t>面试评价</a:t>
                      </a:r>
                      <a:endParaRPr lang="en-US" sz="1200" dirty="0"/>
                    </a:p>
                  </a:txBody>
                  <a:tcPr marL="68400" marR="68400" marT="68400" marB="68400" anchor="ctr">
                    <a:lnL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2F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83333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Figtree Regular" pitchFamily="34" charset="0"/>
                          <a:ea typeface="Figtree Regular" pitchFamily="34" charset="-122"/>
                          <a:cs typeface="Figtree Regular" pitchFamily="34" charset="-120"/>
                        </a:rPr>
                        <a:t>文本记录面试反馈</a:t>
                      </a:r>
                      <a:endParaRPr lang="en-US" sz="1200" dirty="0"/>
                    </a:p>
                  </a:txBody>
                  <a:tcPr marL="68400" marR="68400" marT="68400" marB="68400" anchor="ctr">
                    <a:lnL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2FC"/>
                    </a:solidFill>
                  </a:tcPr>
                </a:tc>
              </a:tr>
              <a:tr h="671623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83333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Figtree Regular" pitchFamily="34" charset="0"/>
                          <a:ea typeface="Figtree Regular" pitchFamily="34" charset="-122"/>
                          <a:cs typeface="Figtree Regular" pitchFamily="34" charset="-120"/>
                        </a:rPr>
                        <a:t>面试结果</a:t>
                      </a:r>
                      <a:endParaRPr lang="en-US" sz="1200" dirty="0"/>
                    </a:p>
                  </a:txBody>
                  <a:tcPr marL="68400" marR="68400" marT="68400" marB="68400" anchor="ctr">
                    <a:lnL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83333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Figtree Regular" pitchFamily="34" charset="0"/>
                          <a:ea typeface="Figtree Regular" pitchFamily="34" charset="-122"/>
                          <a:cs typeface="Figtree Regular" pitchFamily="34" charset="-120"/>
                        </a:rPr>
                        <a:t>通过/待定/淘汰</a:t>
                      </a:r>
                      <a:endParaRPr lang="en-US" sz="1200" dirty="0"/>
                    </a:p>
                  </a:txBody>
                  <a:tcPr marL="68400" marR="68400" marT="68400" marB="68400" anchor="ctr">
                    <a:lnL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0" y="0"/>
            <a:ext cx="2750841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0" y="0"/>
            <a:ext cx="2750841" cy="6858000"/>
          </a:xfrm>
          <a:prstGeom prst="rect">
            <a:avLst/>
          </a:prstGeom>
          <a:blipFill>
            <a:blip r:embed="rId1"/>
            <a:srcRect l="0" t="0" r="0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263288" y="1"/>
            <a:ext cx="832104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面试记录详情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3342119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023620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10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450495" y="6309360"/>
            <a:ext cx="72042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智能招聘管理与数据分析平台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78" y="1164795"/>
            <a:ext cx="10911841" cy="45719"/>
          </a:xfrm>
          <a:custGeom>
            <a:avLst/>
            <a:gdLst/>
            <a:ahLst/>
            <a:cxnLst/>
            <a:rect l="l" t="t" r="r" b="b"/>
            <a:pathLst>
              <a:path w="10911841" h="45719">
                <a:moveTo>
                  <a:pt x="0" y="0"/>
                </a:moveTo>
                <a:lnTo>
                  <a:pt x="10911841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招聘漏斗分析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智能招聘管理与数据分析平台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057400" y="1530235"/>
            <a:ext cx="640080" cy="64008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74707" y="1530235"/>
            <a:ext cx="640080" cy="64008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494520" y="1530235"/>
            <a:ext cx="640080" cy="64008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305800" y="3066109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通过展示每个招聘阶段的转化情况，帮助理解招聘流程中的关键节点和瓶颈。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05800" y="2386835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可视化招聘转化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85987" y="3066109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人数</a:t>
            </a:r>
            <a:endParaRPr lang="en-US" sz="1300" dirty="0"/>
          </a:p>
          <a:p>
            <a:pPr algn="ctr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转化率</a:t>
            </a:r>
            <a:endParaRPr lang="en-US" sz="1300" dirty="0"/>
          </a:p>
          <a:p>
            <a:pPr algn="ctr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流失人数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85987" y="2386835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漏斗每层显示指标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3066109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简历投递</a:t>
            </a:r>
            <a:endParaRPr lang="en-US" sz="1300" dirty="0"/>
          </a:p>
          <a:p>
            <a:pPr algn="ctr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简历筛选通过</a:t>
            </a:r>
            <a:endParaRPr lang="en-US" sz="1300" dirty="0"/>
          </a:p>
          <a:p>
            <a:pPr algn="ctr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在线沟通完成</a:t>
            </a:r>
            <a:endParaRPr lang="en-US" sz="1300" dirty="0"/>
          </a:p>
          <a:p>
            <a:pPr algn="ctr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业务部门通过</a:t>
            </a:r>
            <a:endParaRPr lang="en-US" sz="1300" dirty="0"/>
          </a:p>
          <a:p>
            <a:pPr algn="ctr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一面通过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2386835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招聘漏斗层级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31680" y="1690255"/>
            <a:ext cx="365760" cy="320040"/>
          </a:xfrm>
          <a:custGeom>
            <a:avLst/>
            <a:gdLst/>
            <a:ahLst/>
            <a:cxnLst/>
            <a:rect l="l" t="t" r="r" b="b"/>
            <a:pathLst>
              <a:path w="365760" h="320040">
                <a:moveTo>
                  <a:pt x="17147" y="0"/>
                </a:moveTo>
                <a:cubicBezTo>
                  <a:pt x="26649" y="0"/>
                  <a:pt x="34294" y="7643"/>
                  <a:pt x="34294" y="17145"/>
                </a:cubicBezTo>
                <a:lnTo>
                  <a:pt x="34294" y="268603"/>
                </a:lnTo>
                <a:cubicBezTo>
                  <a:pt x="34294" y="278105"/>
                  <a:pt x="41938" y="285748"/>
                  <a:pt x="51440" y="285748"/>
                </a:cubicBezTo>
                <a:lnTo>
                  <a:pt x="348620" y="285748"/>
                </a:lnTo>
                <a:cubicBezTo>
                  <a:pt x="358123" y="285748"/>
                  <a:pt x="365767" y="293390"/>
                  <a:pt x="365767" y="302892"/>
                </a:cubicBezTo>
                <a:cubicBezTo>
                  <a:pt x="365767" y="312394"/>
                  <a:pt x="358123" y="320037"/>
                  <a:pt x="348624" y="320037"/>
                </a:cubicBezTo>
                <a:lnTo>
                  <a:pt x="51444" y="320037"/>
                </a:lnTo>
                <a:cubicBezTo>
                  <a:pt x="23014" y="320037"/>
                  <a:pt x="11" y="297032"/>
                  <a:pt x="11" y="268603"/>
                </a:cubicBezTo>
                <a:lnTo>
                  <a:pt x="11" y="17144"/>
                </a:lnTo>
                <a:cubicBezTo>
                  <a:pt x="11" y="7642"/>
                  <a:pt x="7655" y="0"/>
                  <a:pt x="17158" y="0"/>
                </a:cubicBezTo>
                <a:lnTo>
                  <a:pt x="17147" y="0"/>
                </a:lnTo>
              </a:path>
              <a:path w="365760" h="320040">
                <a:moveTo>
                  <a:pt x="120017" y="137160"/>
                </a:moveTo>
                <a:cubicBezTo>
                  <a:pt x="129519" y="137160"/>
                  <a:pt x="137164" y="144802"/>
                  <a:pt x="137164" y="154304"/>
                </a:cubicBezTo>
                <a:lnTo>
                  <a:pt x="137164" y="211454"/>
                </a:lnTo>
                <a:cubicBezTo>
                  <a:pt x="137164" y="220956"/>
                  <a:pt x="129519" y="228598"/>
                  <a:pt x="120020" y="228598"/>
                </a:cubicBezTo>
                <a:cubicBezTo>
                  <a:pt x="110518" y="228598"/>
                  <a:pt x="102877" y="220956"/>
                  <a:pt x="102877" y="211454"/>
                </a:cubicBezTo>
                <a:lnTo>
                  <a:pt x="102877" y="154304"/>
                </a:lnTo>
                <a:cubicBezTo>
                  <a:pt x="102877" y="144802"/>
                  <a:pt x="110522" y="137160"/>
                  <a:pt x="120024" y="137160"/>
                </a:cubicBezTo>
                <a:lnTo>
                  <a:pt x="120017" y="137160"/>
                </a:lnTo>
              </a:path>
              <a:path w="365760" h="320040">
                <a:moveTo>
                  <a:pt x="205740" y="85726"/>
                </a:moveTo>
                <a:lnTo>
                  <a:pt x="205740" y="211457"/>
                </a:lnTo>
                <a:cubicBezTo>
                  <a:pt x="205740" y="220959"/>
                  <a:pt x="198096" y="228601"/>
                  <a:pt x="188597" y="228601"/>
                </a:cubicBezTo>
                <a:cubicBezTo>
                  <a:pt x="179094" y="228601"/>
                  <a:pt x="171454" y="220959"/>
                  <a:pt x="171454" y="211457"/>
                </a:cubicBezTo>
                <a:lnTo>
                  <a:pt x="171454" y="85726"/>
                </a:lnTo>
                <a:cubicBezTo>
                  <a:pt x="171454" y="76224"/>
                  <a:pt x="179098" y="68581"/>
                  <a:pt x="188600" y="68581"/>
                </a:cubicBezTo>
                <a:cubicBezTo>
                  <a:pt x="198103" y="68581"/>
                  <a:pt x="205747" y="76224"/>
                  <a:pt x="205747" y="85726"/>
                </a:cubicBezTo>
                <a:lnTo>
                  <a:pt x="205740" y="85726"/>
                </a:lnTo>
              </a:path>
              <a:path w="365760" h="320040">
                <a:moveTo>
                  <a:pt x="257177" y="114299"/>
                </a:moveTo>
                <a:cubicBezTo>
                  <a:pt x="266679" y="114299"/>
                  <a:pt x="274324" y="121942"/>
                  <a:pt x="274324" y="131444"/>
                </a:cubicBezTo>
                <a:lnTo>
                  <a:pt x="274324" y="211454"/>
                </a:lnTo>
                <a:cubicBezTo>
                  <a:pt x="274324" y="220956"/>
                  <a:pt x="266679" y="228598"/>
                  <a:pt x="257180" y="228598"/>
                </a:cubicBezTo>
                <a:cubicBezTo>
                  <a:pt x="247678" y="228598"/>
                  <a:pt x="240037" y="220956"/>
                  <a:pt x="240037" y="211454"/>
                </a:cubicBezTo>
                <a:lnTo>
                  <a:pt x="240037" y="131444"/>
                </a:lnTo>
                <a:cubicBezTo>
                  <a:pt x="240037" y="121942"/>
                  <a:pt x="247682" y="114299"/>
                  <a:pt x="257184" y="114299"/>
                </a:cubicBezTo>
                <a:lnTo>
                  <a:pt x="257177" y="114299"/>
                </a:lnTo>
              </a:path>
              <a:path w="365760" h="320040">
                <a:moveTo>
                  <a:pt x="342900" y="40005"/>
                </a:moveTo>
                <a:lnTo>
                  <a:pt x="342900" y="211454"/>
                </a:lnTo>
                <a:cubicBezTo>
                  <a:pt x="342900" y="220956"/>
                  <a:pt x="335256" y="228598"/>
                  <a:pt x="325757" y="228598"/>
                </a:cubicBezTo>
                <a:cubicBezTo>
                  <a:pt x="316254" y="228598"/>
                  <a:pt x="308614" y="220956"/>
                  <a:pt x="308614" y="211454"/>
                </a:cubicBezTo>
                <a:lnTo>
                  <a:pt x="308614" y="40005"/>
                </a:lnTo>
                <a:cubicBezTo>
                  <a:pt x="308614" y="30503"/>
                  <a:pt x="316258" y="22860"/>
                  <a:pt x="325760" y="22860"/>
                </a:cubicBezTo>
                <a:cubicBezTo>
                  <a:pt x="335263" y="22860"/>
                  <a:pt x="342907" y="30503"/>
                  <a:pt x="342907" y="40005"/>
                </a:cubicBezTo>
                <a:lnTo>
                  <a:pt x="342900" y="4000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986163" y="1667395"/>
            <a:ext cx="217169" cy="365760"/>
          </a:xfrm>
          <a:custGeom>
            <a:avLst/>
            <a:gdLst/>
            <a:ahLst/>
            <a:cxnLst/>
            <a:rect l="l" t="t" r="r" b="b"/>
            <a:pathLst>
              <a:path w="217169" h="365760">
                <a:moveTo>
                  <a:pt x="74287" y="34290"/>
                </a:moveTo>
                <a:cubicBezTo>
                  <a:pt x="74287" y="15351"/>
                  <a:pt x="89639" y="0"/>
                  <a:pt x="108578" y="0"/>
                </a:cubicBezTo>
                <a:cubicBezTo>
                  <a:pt x="127515" y="0"/>
                  <a:pt x="142869" y="15351"/>
                  <a:pt x="142869" y="34290"/>
                </a:cubicBezTo>
                <a:cubicBezTo>
                  <a:pt x="142869" y="53229"/>
                  <a:pt x="127517" y="68580"/>
                  <a:pt x="108578" y="68580"/>
                </a:cubicBezTo>
                <a:cubicBezTo>
                  <a:pt x="89641" y="68580"/>
                  <a:pt x="74287" y="53229"/>
                  <a:pt x="74287" y="34290"/>
                </a:cubicBezTo>
                <a:lnTo>
                  <a:pt x="74287" y="34290"/>
                </a:lnTo>
                <a:moveTo>
                  <a:pt x="97146" y="125803"/>
                </a:moveTo>
                <a:lnTo>
                  <a:pt x="97146" y="217170"/>
                </a:lnTo>
                <a:lnTo>
                  <a:pt x="120005" y="217170"/>
                </a:lnTo>
                <a:lnTo>
                  <a:pt x="120005" y="125803"/>
                </a:lnTo>
                <a:cubicBezTo>
                  <a:pt x="119506" y="125803"/>
                  <a:pt x="118935" y="125730"/>
                  <a:pt x="118361" y="125730"/>
                </a:cubicBezTo>
                <a:lnTo>
                  <a:pt x="98716" y="125730"/>
                </a:lnTo>
                <a:cubicBezTo>
                  <a:pt x="98145" y="125730"/>
                  <a:pt x="97646" y="125730"/>
                  <a:pt x="97072" y="125803"/>
                </a:cubicBezTo>
                <a:lnTo>
                  <a:pt x="97146" y="125803"/>
                </a:lnTo>
                <a:moveTo>
                  <a:pt x="97146" y="251460"/>
                </a:moveTo>
                <a:lnTo>
                  <a:pt x="97146" y="348617"/>
                </a:lnTo>
                <a:cubicBezTo>
                  <a:pt x="97146" y="358119"/>
                  <a:pt x="89502" y="365764"/>
                  <a:pt x="80001" y="365764"/>
                </a:cubicBezTo>
                <a:cubicBezTo>
                  <a:pt x="70500" y="365764"/>
                  <a:pt x="62855" y="358119"/>
                  <a:pt x="62855" y="348620"/>
                </a:cubicBezTo>
                <a:lnTo>
                  <a:pt x="62855" y="159738"/>
                </a:lnTo>
                <a:lnTo>
                  <a:pt x="32065" y="214174"/>
                </a:lnTo>
                <a:cubicBezTo>
                  <a:pt x="27422" y="222389"/>
                  <a:pt x="16920" y="225319"/>
                  <a:pt x="8704" y="220674"/>
                </a:cubicBezTo>
                <a:cubicBezTo>
                  <a:pt x="489" y="216029"/>
                  <a:pt x="-2441" y="205528"/>
                  <a:pt x="2204" y="197313"/>
                </a:cubicBezTo>
                <a:lnTo>
                  <a:pt x="44066" y="123374"/>
                </a:lnTo>
                <a:cubicBezTo>
                  <a:pt x="55211" y="103656"/>
                  <a:pt x="76142" y="91444"/>
                  <a:pt x="98786" y="91444"/>
                </a:cubicBezTo>
                <a:lnTo>
                  <a:pt x="118431" y="91444"/>
                </a:lnTo>
                <a:cubicBezTo>
                  <a:pt x="141077" y="91444"/>
                  <a:pt x="162008" y="103660"/>
                  <a:pt x="173151" y="123374"/>
                </a:cubicBezTo>
                <a:lnTo>
                  <a:pt x="214943" y="197313"/>
                </a:lnTo>
                <a:cubicBezTo>
                  <a:pt x="219586" y="205528"/>
                  <a:pt x="216728" y="216029"/>
                  <a:pt x="208443" y="220674"/>
                </a:cubicBezTo>
                <a:cubicBezTo>
                  <a:pt x="200156" y="225319"/>
                  <a:pt x="189728" y="222459"/>
                  <a:pt x="185082" y="214174"/>
                </a:cubicBezTo>
                <a:lnTo>
                  <a:pt x="154292" y="159738"/>
                </a:lnTo>
                <a:lnTo>
                  <a:pt x="154292" y="348620"/>
                </a:lnTo>
                <a:cubicBezTo>
                  <a:pt x="154292" y="358123"/>
                  <a:pt x="146648" y="365767"/>
                  <a:pt x="137147" y="365767"/>
                </a:cubicBezTo>
                <a:cubicBezTo>
                  <a:pt x="127646" y="365767"/>
                  <a:pt x="120001" y="358123"/>
                  <a:pt x="120001" y="348624"/>
                </a:cubicBezTo>
                <a:lnTo>
                  <a:pt x="120001" y="251471"/>
                </a:lnTo>
                <a:lnTo>
                  <a:pt x="97146" y="25146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194560" y="1690255"/>
            <a:ext cx="365760" cy="320040"/>
          </a:xfrm>
          <a:custGeom>
            <a:avLst/>
            <a:gdLst/>
            <a:ahLst/>
            <a:cxnLst/>
            <a:rect l="l" t="t" r="r" b="b"/>
            <a:pathLst>
              <a:path w="365760" h="320040">
                <a:moveTo>
                  <a:pt x="179808" y="68293"/>
                </a:moveTo>
                <a:lnTo>
                  <a:pt x="179808" y="68293"/>
                </a:lnTo>
                <a:cubicBezTo>
                  <a:pt x="187309" y="75795"/>
                  <a:pt x="197452" y="80010"/>
                  <a:pt x="208096" y="80010"/>
                </a:cubicBezTo>
                <a:lnTo>
                  <a:pt x="320036" y="80010"/>
                </a:lnTo>
                <a:cubicBezTo>
                  <a:pt x="326324" y="80010"/>
                  <a:pt x="331466" y="85153"/>
                  <a:pt x="331466" y="91439"/>
                </a:cubicBezTo>
                <a:lnTo>
                  <a:pt x="331466" y="274319"/>
                </a:lnTo>
                <a:cubicBezTo>
                  <a:pt x="331466" y="280605"/>
                  <a:pt x="326324" y="285748"/>
                  <a:pt x="320036" y="285748"/>
                </a:cubicBezTo>
                <a:lnTo>
                  <a:pt x="262886" y="285748"/>
                </a:lnTo>
                <a:cubicBezTo>
                  <a:pt x="262886" y="254173"/>
                  <a:pt x="237312" y="228598"/>
                  <a:pt x="205736" y="228598"/>
                </a:cubicBezTo>
                <a:lnTo>
                  <a:pt x="160016" y="228598"/>
                </a:lnTo>
                <a:cubicBezTo>
                  <a:pt x="128440" y="228598"/>
                  <a:pt x="102866" y="254173"/>
                  <a:pt x="102866" y="285748"/>
                </a:cubicBezTo>
                <a:lnTo>
                  <a:pt x="45716" y="285748"/>
                </a:lnTo>
                <a:cubicBezTo>
                  <a:pt x="39429" y="285748"/>
                  <a:pt x="34286" y="280605"/>
                  <a:pt x="34286" y="274319"/>
                </a:cubicBezTo>
                <a:lnTo>
                  <a:pt x="34286" y="45718"/>
                </a:lnTo>
                <a:cubicBezTo>
                  <a:pt x="34286" y="39432"/>
                  <a:pt x="39429" y="34289"/>
                  <a:pt x="45716" y="34289"/>
                </a:cubicBezTo>
                <a:lnTo>
                  <a:pt x="141085" y="34289"/>
                </a:lnTo>
                <a:cubicBezTo>
                  <a:pt x="144084" y="34289"/>
                  <a:pt x="147014" y="35502"/>
                  <a:pt x="149157" y="37646"/>
                </a:cubicBezTo>
                <a:lnTo>
                  <a:pt x="173374" y="13429"/>
                </a:lnTo>
                <a:lnTo>
                  <a:pt x="149157" y="37646"/>
                </a:lnTo>
                <a:lnTo>
                  <a:pt x="179808" y="68293"/>
                </a:lnTo>
                <a:moveTo>
                  <a:pt x="204025" y="44076"/>
                </a:moveTo>
                <a:lnTo>
                  <a:pt x="173377" y="13358"/>
                </a:lnTo>
                <a:cubicBezTo>
                  <a:pt x="164804" y="4785"/>
                  <a:pt x="153162" y="0"/>
                  <a:pt x="141015" y="0"/>
                </a:cubicBezTo>
                <a:lnTo>
                  <a:pt x="45716" y="0"/>
                </a:lnTo>
                <a:cubicBezTo>
                  <a:pt x="20497" y="0"/>
                  <a:pt x="-4" y="20502"/>
                  <a:pt x="-4" y="45721"/>
                </a:cubicBezTo>
                <a:lnTo>
                  <a:pt x="-4" y="274322"/>
                </a:lnTo>
                <a:cubicBezTo>
                  <a:pt x="-4" y="299538"/>
                  <a:pt x="20497" y="320043"/>
                  <a:pt x="45716" y="320043"/>
                </a:cubicBezTo>
                <a:lnTo>
                  <a:pt x="320036" y="320043"/>
                </a:lnTo>
                <a:cubicBezTo>
                  <a:pt x="345255" y="320043"/>
                  <a:pt x="365756" y="299541"/>
                  <a:pt x="365756" y="274322"/>
                </a:cubicBezTo>
                <a:lnTo>
                  <a:pt x="365756" y="91442"/>
                </a:lnTo>
                <a:cubicBezTo>
                  <a:pt x="365756" y="66226"/>
                  <a:pt x="345255" y="45721"/>
                  <a:pt x="320036" y="45721"/>
                </a:cubicBezTo>
                <a:lnTo>
                  <a:pt x="208095" y="45721"/>
                </a:lnTo>
                <a:cubicBezTo>
                  <a:pt x="206596" y="45721"/>
                  <a:pt x="205096" y="45148"/>
                  <a:pt x="204025" y="44079"/>
                </a:cubicBezTo>
                <a:lnTo>
                  <a:pt x="204025" y="44076"/>
                </a:lnTo>
                <a:moveTo>
                  <a:pt x="228600" y="160020"/>
                </a:moveTo>
                <a:cubicBezTo>
                  <a:pt x="228600" y="134769"/>
                  <a:pt x="208132" y="114299"/>
                  <a:pt x="182880" y="114299"/>
                </a:cubicBezTo>
                <a:cubicBezTo>
                  <a:pt x="157628" y="114299"/>
                  <a:pt x="137160" y="134769"/>
                  <a:pt x="137160" y="160020"/>
                </a:cubicBezTo>
                <a:cubicBezTo>
                  <a:pt x="137160" y="185271"/>
                  <a:pt x="157628" y="205741"/>
                  <a:pt x="182880" y="205741"/>
                </a:cubicBezTo>
                <a:cubicBezTo>
                  <a:pt x="208132" y="205741"/>
                  <a:pt x="228600" y="185271"/>
                  <a:pt x="228600" y="16002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78" y="1164795"/>
            <a:ext cx="8229600" cy="45719"/>
          </a:xfrm>
          <a:custGeom>
            <a:avLst/>
            <a:gdLst/>
            <a:ahLst/>
            <a:cxnLst/>
            <a:rect l="l" t="t" r="r" b="b"/>
            <a:pathLst>
              <a:path w="8229600" h="45719">
                <a:moveTo>
                  <a:pt x="0" y="0"/>
                </a:moveTo>
                <a:lnTo>
                  <a:pt x="822960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79" y="1"/>
            <a:ext cx="822960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流失原因分析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智能招聘管理与数据分析平台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441159" y="0"/>
            <a:ext cx="2750841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441159" y="0"/>
            <a:ext cx="2750841" cy="6858000"/>
          </a:xfrm>
          <a:prstGeom prst="rect">
            <a:avLst/>
          </a:prstGeom>
          <a:blipFill>
            <a:blip r:embed="rId1"/>
            <a:srcRect l="0" t="0" r="0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9313" y="1711700"/>
            <a:ext cx="548640" cy="54864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0078" y="3180099"/>
            <a:ext cx="548640" cy="54864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9313" y="4648499"/>
            <a:ext cx="548640" cy="54864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514641" y="5158185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457"/>
              </a:spcBef>
              <a:buNone/>
            </a:pPr>
            <a:r>
              <a:rPr lang="en-US" sz="595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呈现形式：饼图/柱状图</a:t>
            </a:r>
            <a:endParaRPr lang="en-US" sz="595" dirty="0"/>
          </a:p>
          <a:p>
            <a:pPr algn="l" marL="0" indent="0">
              <a:lnSpc>
                <a:spcPct val="90000"/>
              </a:lnSpc>
              <a:spcBef>
                <a:spcPts val="457"/>
              </a:spcBef>
              <a:buNone/>
            </a:pPr>
            <a:r>
              <a:rPr lang="en-US" sz="595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支持按时间筛选</a:t>
            </a:r>
            <a:endParaRPr lang="en-US" sz="595" dirty="0"/>
          </a:p>
          <a:p>
            <a:pPr algn="l" marL="0" indent="0">
              <a:lnSpc>
                <a:spcPct val="90000"/>
              </a:lnSpc>
              <a:spcBef>
                <a:spcPts val="457"/>
              </a:spcBef>
              <a:buNone/>
            </a:pPr>
            <a:r>
              <a:rPr lang="en-US" sz="595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支持按岗位筛选</a:t>
            </a:r>
            <a:endParaRPr lang="en-US" sz="595" dirty="0"/>
          </a:p>
          <a:p>
            <a:pPr algn="l" marL="0" indent="0">
              <a:lnSpc>
                <a:spcPct val="90000"/>
              </a:lnSpc>
              <a:spcBef>
                <a:spcPts val="457"/>
              </a:spcBef>
              <a:buNone/>
            </a:pPr>
            <a:r>
              <a:rPr lang="en-US" sz="595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支持按优先级筛选</a:t>
            </a:r>
            <a:endParaRPr lang="en-US" sz="595" dirty="0"/>
          </a:p>
        </p:txBody>
      </p:sp>
      <p:sp>
        <p:nvSpPr>
          <p:cNvPr id="15" name="Text 13"/>
          <p:cNvSpPr/>
          <p:nvPr/>
        </p:nvSpPr>
        <p:spPr>
          <a:xfrm>
            <a:off x="1514641" y="4648499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呈现与筛选方式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14641" y="3672457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457"/>
              </a:spcBef>
              <a:buNone/>
            </a:pPr>
            <a:r>
              <a:rPr lang="en-US" sz="595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薪资不符 30%</a:t>
            </a:r>
            <a:endParaRPr lang="en-US" sz="595" dirty="0"/>
          </a:p>
          <a:p>
            <a:pPr algn="l" marL="0" indent="0">
              <a:lnSpc>
                <a:spcPct val="90000"/>
              </a:lnSpc>
              <a:spcBef>
                <a:spcPts val="457"/>
              </a:spcBef>
              <a:buNone/>
            </a:pPr>
            <a:r>
              <a:rPr lang="en-US" sz="595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候选人拒绝 25%</a:t>
            </a:r>
            <a:endParaRPr lang="en-US" sz="595" dirty="0"/>
          </a:p>
          <a:p>
            <a:pPr algn="l" marL="0" indent="0">
              <a:lnSpc>
                <a:spcPct val="90000"/>
              </a:lnSpc>
              <a:spcBef>
                <a:spcPts val="457"/>
              </a:spcBef>
              <a:buNone/>
            </a:pPr>
            <a:r>
              <a:rPr lang="en-US" sz="595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面试表现不佳 20%</a:t>
            </a:r>
            <a:endParaRPr lang="en-US" sz="595" dirty="0"/>
          </a:p>
          <a:p>
            <a:pPr algn="l" marL="0" indent="0">
              <a:lnSpc>
                <a:spcPct val="90000"/>
              </a:lnSpc>
              <a:spcBef>
                <a:spcPts val="457"/>
              </a:spcBef>
              <a:buNone/>
            </a:pPr>
            <a:r>
              <a:rPr lang="en-US" sz="595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业务部门不通过 15%</a:t>
            </a:r>
            <a:endParaRPr lang="en-US" sz="595" dirty="0"/>
          </a:p>
          <a:p>
            <a:pPr algn="l" marL="0" indent="0">
              <a:lnSpc>
                <a:spcPct val="90000"/>
              </a:lnSpc>
              <a:spcBef>
                <a:spcPts val="457"/>
              </a:spcBef>
              <a:buNone/>
            </a:pPr>
            <a:r>
              <a:rPr lang="en-US" sz="595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其他原因 10%</a:t>
            </a:r>
            <a:endParaRPr lang="en-US" sz="595" dirty="0"/>
          </a:p>
        </p:txBody>
      </p:sp>
      <p:sp>
        <p:nvSpPr>
          <p:cNvPr id="17" name="Text 15"/>
          <p:cNvSpPr/>
          <p:nvPr/>
        </p:nvSpPr>
        <p:spPr>
          <a:xfrm>
            <a:off x="1514641" y="3180099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原因分类与占比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14641" y="2200363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457"/>
              </a:spcBef>
              <a:buNone/>
            </a:pPr>
            <a:r>
              <a:rPr lang="en-US" sz="595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薪资不符（30%）</a:t>
            </a:r>
            <a:endParaRPr lang="en-US" sz="595" dirty="0"/>
          </a:p>
          <a:p>
            <a:pPr algn="l" marL="0" indent="0">
              <a:lnSpc>
                <a:spcPct val="90000"/>
              </a:lnSpc>
              <a:spcBef>
                <a:spcPts val="457"/>
              </a:spcBef>
              <a:buNone/>
            </a:pPr>
            <a:r>
              <a:rPr lang="en-US" sz="595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候选人拒绝（25%）</a:t>
            </a:r>
            <a:endParaRPr lang="en-US" sz="595" dirty="0"/>
          </a:p>
          <a:p>
            <a:pPr algn="l" marL="0" indent="0">
              <a:lnSpc>
                <a:spcPct val="90000"/>
              </a:lnSpc>
              <a:spcBef>
                <a:spcPts val="457"/>
              </a:spcBef>
              <a:buNone/>
            </a:pPr>
            <a:r>
              <a:rPr lang="en-US" sz="595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面试表现不佳（20%）</a:t>
            </a:r>
            <a:endParaRPr lang="en-US" sz="595" dirty="0"/>
          </a:p>
          <a:p>
            <a:pPr algn="l" marL="0" indent="0">
              <a:lnSpc>
                <a:spcPct val="90000"/>
              </a:lnSpc>
              <a:spcBef>
                <a:spcPts val="457"/>
              </a:spcBef>
              <a:buNone/>
            </a:pPr>
            <a:r>
              <a:rPr lang="en-US" sz="595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业务部门不通过（15%）</a:t>
            </a:r>
            <a:endParaRPr lang="en-US" sz="595" dirty="0"/>
          </a:p>
          <a:p>
            <a:pPr algn="l" marL="0" indent="0">
              <a:lnSpc>
                <a:spcPct val="90000"/>
              </a:lnSpc>
              <a:spcBef>
                <a:spcPts val="457"/>
              </a:spcBef>
              <a:buNone/>
            </a:pPr>
            <a:r>
              <a:rPr lang="en-US" sz="595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其他原因（10%）</a:t>
            </a:r>
            <a:endParaRPr lang="en-US" sz="595" dirty="0"/>
          </a:p>
        </p:txBody>
      </p:sp>
      <p:sp>
        <p:nvSpPr>
          <p:cNvPr id="19" name="Text 17"/>
          <p:cNvSpPr/>
          <p:nvPr/>
        </p:nvSpPr>
        <p:spPr>
          <a:xfrm>
            <a:off x="1514641" y="17117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流失原因统计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6473" y="4802804"/>
            <a:ext cx="274320" cy="240030"/>
          </a:xfrm>
          <a:custGeom>
            <a:avLst/>
            <a:gdLst/>
            <a:ahLst/>
            <a:cxnLst/>
            <a:rect l="l" t="t" r="r" b="b"/>
            <a:pathLst>
              <a:path w="274320" h="240030">
                <a:moveTo>
                  <a:pt x="12860" y="0"/>
                </a:moveTo>
                <a:cubicBezTo>
                  <a:pt x="19987" y="0"/>
                  <a:pt x="25720" y="5732"/>
                  <a:pt x="25720" y="12858"/>
                </a:cubicBezTo>
                <a:lnTo>
                  <a:pt x="25720" y="201452"/>
                </a:lnTo>
                <a:cubicBezTo>
                  <a:pt x="25720" y="208579"/>
                  <a:pt x="31453" y="214311"/>
                  <a:pt x="38580" y="214311"/>
                </a:cubicBezTo>
                <a:lnTo>
                  <a:pt x="261465" y="214311"/>
                </a:lnTo>
                <a:cubicBezTo>
                  <a:pt x="268592" y="214311"/>
                  <a:pt x="274325" y="220043"/>
                  <a:pt x="274325" y="227169"/>
                </a:cubicBezTo>
                <a:cubicBezTo>
                  <a:pt x="274325" y="234296"/>
                  <a:pt x="268592" y="240027"/>
                  <a:pt x="261468" y="240027"/>
                </a:cubicBezTo>
                <a:lnTo>
                  <a:pt x="38583" y="240027"/>
                </a:lnTo>
                <a:cubicBezTo>
                  <a:pt x="17260" y="240027"/>
                  <a:pt x="8" y="222774"/>
                  <a:pt x="8" y="201452"/>
                </a:cubicBezTo>
                <a:lnTo>
                  <a:pt x="8" y="12858"/>
                </a:lnTo>
                <a:cubicBezTo>
                  <a:pt x="8" y="5732"/>
                  <a:pt x="5741" y="0"/>
                  <a:pt x="12868" y="0"/>
                </a:cubicBezTo>
                <a:lnTo>
                  <a:pt x="12860" y="0"/>
                </a:lnTo>
              </a:path>
              <a:path w="274320" h="240030">
                <a:moveTo>
                  <a:pt x="90013" y="102870"/>
                </a:moveTo>
                <a:cubicBezTo>
                  <a:pt x="97139" y="102870"/>
                  <a:pt x="102873" y="108602"/>
                  <a:pt x="102873" y="115728"/>
                </a:cubicBezTo>
                <a:lnTo>
                  <a:pt x="102873" y="158590"/>
                </a:lnTo>
                <a:cubicBezTo>
                  <a:pt x="102873" y="165717"/>
                  <a:pt x="97139" y="171448"/>
                  <a:pt x="90015" y="171448"/>
                </a:cubicBezTo>
                <a:cubicBezTo>
                  <a:pt x="82888" y="171448"/>
                  <a:pt x="77158" y="165717"/>
                  <a:pt x="77158" y="158590"/>
                </a:cubicBezTo>
                <a:lnTo>
                  <a:pt x="77158" y="115728"/>
                </a:lnTo>
                <a:cubicBezTo>
                  <a:pt x="77158" y="108601"/>
                  <a:pt x="82891" y="102870"/>
                  <a:pt x="90018" y="102870"/>
                </a:cubicBezTo>
                <a:lnTo>
                  <a:pt x="90013" y="102870"/>
                </a:lnTo>
              </a:path>
              <a:path w="274320" h="240030">
                <a:moveTo>
                  <a:pt x="154305" y="64294"/>
                </a:moveTo>
                <a:lnTo>
                  <a:pt x="154305" y="158593"/>
                </a:lnTo>
                <a:cubicBezTo>
                  <a:pt x="154305" y="165719"/>
                  <a:pt x="148572" y="171451"/>
                  <a:pt x="141448" y="171451"/>
                </a:cubicBezTo>
                <a:cubicBezTo>
                  <a:pt x="134321" y="171451"/>
                  <a:pt x="128590" y="165719"/>
                  <a:pt x="128590" y="158593"/>
                </a:cubicBezTo>
                <a:lnTo>
                  <a:pt x="128590" y="64294"/>
                </a:lnTo>
                <a:cubicBezTo>
                  <a:pt x="128590" y="57168"/>
                  <a:pt x="134323" y="51436"/>
                  <a:pt x="141450" y="51436"/>
                </a:cubicBezTo>
                <a:cubicBezTo>
                  <a:pt x="148577" y="51436"/>
                  <a:pt x="154310" y="57168"/>
                  <a:pt x="154310" y="64294"/>
                </a:cubicBezTo>
                <a:lnTo>
                  <a:pt x="154305" y="64294"/>
                </a:lnTo>
              </a:path>
              <a:path w="274320" h="240030">
                <a:moveTo>
                  <a:pt x="192883" y="85724"/>
                </a:moveTo>
                <a:cubicBezTo>
                  <a:pt x="200009" y="85724"/>
                  <a:pt x="205743" y="91456"/>
                  <a:pt x="205743" y="98583"/>
                </a:cubicBezTo>
                <a:lnTo>
                  <a:pt x="205743" y="158590"/>
                </a:lnTo>
                <a:cubicBezTo>
                  <a:pt x="205743" y="165717"/>
                  <a:pt x="200009" y="171449"/>
                  <a:pt x="192885" y="171449"/>
                </a:cubicBezTo>
                <a:cubicBezTo>
                  <a:pt x="185758" y="171449"/>
                  <a:pt x="180028" y="165717"/>
                  <a:pt x="180028" y="158590"/>
                </a:cubicBezTo>
                <a:lnTo>
                  <a:pt x="180028" y="98583"/>
                </a:lnTo>
                <a:cubicBezTo>
                  <a:pt x="180028" y="91456"/>
                  <a:pt x="185761" y="85724"/>
                  <a:pt x="192888" y="85724"/>
                </a:cubicBezTo>
                <a:lnTo>
                  <a:pt x="192883" y="85724"/>
                </a:lnTo>
              </a:path>
              <a:path w="274320" h="240030">
                <a:moveTo>
                  <a:pt x="257175" y="30004"/>
                </a:moveTo>
                <a:lnTo>
                  <a:pt x="257175" y="158590"/>
                </a:lnTo>
                <a:cubicBezTo>
                  <a:pt x="257175" y="165717"/>
                  <a:pt x="251442" y="171449"/>
                  <a:pt x="244318" y="171449"/>
                </a:cubicBezTo>
                <a:cubicBezTo>
                  <a:pt x="237191" y="171449"/>
                  <a:pt x="231460" y="165717"/>
                  <a:pt x="231460" y="158590"/>
                </a:cubicBezTo>
                <a:lnTo>
                  <a:pt x="231460" y="30004"/>
                </a:lnTo>
                <a:cubicBezTo>
                  <a:pt x="231460" y="22877"/>
                  <a:pt x="237193" y="17145"/>
                  <a:pt x="244320" y="17145"/>
                </a:cubicBezTo>
                <a:cubicBezTo>
                  <a:pt x="251447" y="17145"/>
                  <a:pt x="257180" y="22877"/>
                  <a:pt x="257180" y="30004"/>
                </a:cubicBezTo>
                <a:lnTo>
                  <a:pt x="257175" y="30004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77238" y="3362974"/>
            <a:ext cx="274320" cy="182890"/>
          </a:xfrm>
          <a:custGeom>
            <a:avLst/>
            <a:gdLst/>
            <a:ahLst/>
            <a:cxnLst/>
            <a:rect l="l" t="t" r="r" b="b"/>
            <a:pathLst>
              <a:path w="274320" h="182890">
                <a:moveTo>
                  <a:pt x="250419" y="76728"/>
                </a:moveTo>
                <a:cubicBezTo>
                  <a:pt x="251894" y="80442"/>
                  <a:pt x="254610" y="83586"/>
                  <a:pt x="258182" y="85397"/>
                </a:cubicBezTo>
                <a:lnTo>
                  <a:pt x="265898" y="89254"/>
                </a:lnTo>
                <a:cubicBezTo>
                  <a:pt x="273423" y="93016"/>
                  <a:pt x="276471" y="102160"/>
                  <a:pt x="272710" y="109686"/>
                </a:cubicBezTo>
                <a:cubicBezTo>
                  <a:pt x="268946" y="117212"/>
                  <a:pt x="259803" y="120259"/>
                  <a:pt x="252278" y="116497"/>
                </a:cubicBezTo>
                <a:lnTo>
                  <a:pt x="238181" y="109449"/>
                </a:lnTo>
                <a:cubicBezTo>
                  <a:pt x="231180" y="105924"/>
                  <a:pt x="223083" y="105257"/>
                  <a:pt x="215605" y="107590"/>
                </a:cubicBezTo>
                <a:lnTo>
                  <a:pt x="195790" y="113686"/>
                </a:lnTo>
                <a:cubicBezTo>
                  <a:pt x="184694" y="117115"/>
                  <a:pt x="172786" y="116783"/>
                  <a:pt x="161879" y="112828"/>
                </a:cubicBezTo>
                <a:lnTo>
                  <a:pt x="147590" y="107636"/>
                </a:lnTo>
                <a:cubicBezTo>
                  <a:pt x="140874" y="105207"/>
                  <a:pt x="133492" y="105207"/>
                  <a:pt x="126777" y="107636"/>
                </a:cubicBezTo>
                <a:lnTo>
                  <a:pt x="112488" y="112828"/>
                </a:lnTo>
                <a:cubicBezTo>
                  <a:pt x="101581" y="116781"/>
                  <a:pt x="89675" y="117115"/>
                  <a:pt x="78576" y="113686"/>
                </a:cubicBezTo>
                <a:lnTo>
                  <a:pt x="58762" y="107590"/>
                </a:lnTo>
                <a:cubicBezTo>
                  <a:pt x="51284" y="105304"/>
                  <a:pt x="43189" y="105972"/>
                  <a:pt x="36186" y="109449"/>
                </a:cubicBezTo>
                <a:lnTo>
                  <a:pt x="22039" y="116497"/>
                </a:lnTo>
                <a:cubicBezTo>
                  <a:pt x="14514" y="120259"/>
                  <a:pt x="5368" y="117212"/>
                  <a:pt x="1608" y="109686"/>
                </a:cubicBezTo>
                <a:cubicBezTo>
                  <a:pt x="-2156" y="102160"/>
                  <a:pt x="894" y="93016"/>
                  <a:pt x="8419" y="89254"/>
                </a:cubicBezTo>
                <a:lnTo>
                  <a:pt x="16135" y="85397"/>
                </a:lnTo>
                <a:cubicBezTo>
                  <a:pt x="19707" y="83586"/>
                  <a:pt x="22423" y="80444"/>
                  <a:pt x="23899" y="76728"/>
                </a:cubicBezTo>
                <a:cubicBezTo>
                  <a:pt x="41853" y="31768"/>
                  <a:pt x="85766" y="0"/>
                  <a:pt x="137157" y="0"/>
                </a:cubicBezTo>
                <a:cubicBezTo>
                  <a:pt x="188548" y="0"/>
                  <a:pt x="232459" y="31768"/>
                  <a:pt x="250416" y="76728"/>
                </a:cubicBezTo>
                <a:lnTo>
                  <a:pt x="250419" y="76728"/>
                </a:lnTo>
                <a:moveTo>
                  <a:pt x="94868" y="31291"/>
                </a:moveTo>
                <a:cubicBezTo>
                  <a:pt x="91104" y="29385"/>
                  <a:pt x="86534" y="30958"/>
                  <a:pt x="84628" y="34720"/>
                </a:cubicBezTo>
                <a:lnTo>
                  <a:pt x="77007" y="49960"/>
                </a:lnTo>
                <a:cubicBezTo>
                  <a:pt x="75103" y="53722"/>
                  <a:pt x="76672" y="58294"/>
                  <a:pt x="80436" y="60200"/>
                </a:cubicBezTo>
                <a:cubicBezTo>
                  <a:pt x="81484" y="60723"/>
                  <a:pt x="82579" y="60963"/>
                  <a:pt x="83676" y="61010"/>
                </a:cubicBezTo>
                <a:lnTo>
                  <a:pt x="84011" y="61010"/>
                </a:lnTo>
                <a:cubicBezTo>
                  <a:pt x="86726" y="60963"/>
                  <a:pt x="89346" y="59439"/>
                  <a:pt x="90679" y="56818"/>
                </a:cubicBezTo>
                <a:lnTo>
                  <a:pt x="98300" y="41578"/>
                </a:lnTo>
                <a:cubicBezTo>
                  <a:pt x="100204" y="37816"/>
                  <a:pt x="98635" y="33244"/>
                  <a:pt x="94871" y="31338"/>
                </a:cubicBezTo>
                <a:lnTo>
                  <a:pt x="94868" y="31291"/>
                </a:lnTo>
                <a:moveTo>
                  <a:pt x="179501" y="31291"/>
                </a:moveTo>
                <a:cubicBezTo>
                  <a:pt x="175738" y="33196"/>
                  <a:pt x="174215" y="37769"/>
                  <a:pt x="176072" y="41531"/>
                </a:cubicBezTo>
                <a:lnTo>
                  <a:pt x="183693" y="56771"/>
                </a:lnTo>
                <a:cubicBezTo>
                  <a:pt x="184979" y="59390"/>
                  <a:pt x="187599" y="60915"/>
                  <a:pt x="190362" y="60963"/>
                </a:cubicBezTo>
                <a:lnTo>
                  <a:pt x="190696" y="60963"/>
                </a:lnTo>
                <a:cubicBezTo>
                  <a:pt x="191791" y="60963"/>
                  <a:pt x="192888" y="60677"/>
                  <a:pt x="193936" y="60152"/>
                </a:cubicBezTo>
                <a:cubicBezTo>
                  <a:pt x="197700" y="58247"/>
                  <a:pt x="199222" y="53675"/>
                  <a:pt x="197365" y="49912"/>
                </a:cubicBezTo>
                <a:lnTo>
                  <a:pt x="189744" y="34672"/>
                </a:lnTo>
                <a:cubicBezTo>
                  <a:pt x="187841" y="30910"/>
                  <a:pt x="183268" y="29385"/>
                  <a:pt x="179504" y="31243"/>
                </a:cubicBezTo>
                <a:lnTo>
                  <a:pt x="179501" y="31291"/>
                </a:lnTo>
                <a:moveTo>
                  <a:pt x="137160" y="30482"/>
                </a:moveTo>
                <a:cubicBezTo>
                  <a:pt x="132968" y="30482"/>
                  <a:pt x="129539" y="33911"/>
                  <a:pt x="129539" y="38103"/>
                </a:cubicBezTo>
                <a:lnTo>
                  <a:pt x="129539" y="53343"/>
                </a:lnTo>
                <a:cubicBezTo>
                  <a:pt x="129539" y="57535"/>
                  <a:pt x="132968" y="60964"/>
                  <a:pt x="137160" y="60964"/>
                </a:cubicBezTo>
                <a:cubicBezTo>
                  <a:pt x="141352" y="60964"/>
                  <a:pt x="144781" y="57535"/>
                  <a:pt x="144781" y="53343"/>
                </a:cubicBezTo>
                <a:lnTo>
                  <a:pt x="144781" y="38103"/>
                </a:lnTo>
                <a:cubicBezTo>
                  <a:pt x="144781" y="33911"/>
                  <a:pt x="141352" y="30482"/>
                  <a:pt x="137160" y="30482"/>
                </a:cubicBezTo>
                <a:lnTo>
                  <a:pt x="137160" y="30482"/>
                </a:lnTo>
                <a:moveTo>
                  <a:pt x="42953" y="123070"/>
                </a:moveTo>
                <a:cubicBezTo>
                  <a:pt x="44953" y="122070"/>
                  <a:pt x="47145" y="121547"/>
                  <a:pt x="49336" y="121452"/>
                </a:cubicBezTo>
                <a:lnTo>
                  <a:pt x="60433" y="154790"/>
                </a:lnTo>
                <a:cubicBezTo>
                  <a:pt x="61481" y="157887"/>
                  <a:pt x="64386" y="159983"/>
                  <a:pt x="67672" y="159983"/>
                </a:cubicBezTo>
                <a:lnTo>
                  <a:pt x="206601" y="159983"/>
                </a:lnTo>
                <a:cubicBezTo>
                  <a:pt x="209888" y="159983"/>
                  <a:pt x="212793" y="157887"/>
                  <a:pt x="213841" y="154790"/>
                </a:cubicBezTo>
                <a:lnTo>
                  <a:pt x="224937" y="121452"/>
                </a:lnTo>
                <a:cubicBezTo>
                  <a:pt x="227129" y="121499"/>
                  <a:pt x="229318" y="122072"/>
                  <a:pt x="231320" y="123070"/>
                </a:cubicBezTo>
                <a:lnTo>
                  <a:pt x="245418" y="130119"/>
                </a:lnTo>
                <a:cubicBezTo>
                  <a:pt x="245607" y="130214"/>
                  <a:pt x="245846" y="130309"/>
                  <a:pt x="246038" y="130404"/>
                </a:cubicBezTo>
                <a:lnTo>
                  <a:pt x="235512" y="162029"/>
                </a:lnTo>
                <a:cubicBezTo>
                  <a:pt x="231370" y="174460"/>
                  <a:pt x="219700" y="182890"/>
                  <a:pt x="206601" y="182890"/>
                </a:cubicBezTo>
                <a:lnTo>
                  <a:pt x="67672" y="182890"/>
                </a:lnTo>
                <a:cubicBezTo>
                  <a:pt x="54573" y="182890"/>
                  <a:pt x="42906" y="174508"/>
                  <a:pt x="38761" y="162029"/>
                </a:cubicBezTo>
                <a:lnTo>
                  <a:pt x="28236" y="130452"/>
                </a:lnTo>
                <a:cubicBezTo>
                  <a:pt x="28425" y="130356"/>
                  <a:pt x="28664" y="130261"/>
                  <a:pt x="28856" y="130166"/>
                </a:cubicBezTo>
                <a:lnTo>
                  <a:pt x="42953" y="123118"/>
                </a:lnTo>
                <a:lnTo>
                  <a:pt x="42953" y="12307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86473" y="184886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37637" y="162488"/>
                </a:moveTo>
                <a:cubicBezTo>
                  <a:pt x="123389" y="162488"/>
                  <a:pt x="111829" y="150928"/>
                  <a:pt x="111829" y="136680"/>
                </a:cubicBezTo>
                <a:lnTo>
                  <a:pt x="111829" y="27860"/>
                </a:lnTo>
                <a:cubicBezTo>
                  <a:pt x="62526" y="39472"/>
                  <a:pt x="25805" y="83829"/>
                  <a:pt x="25805" y="136680"/>
                </a:cubicBezTo>
                <a:cubicBezTo>
                  <a:pt x="25805" y="198457"/>
                  <a:pt x="75861" y="248512"/>
                  <a:pt x="137637" y="248512"/>
                </a:cubicBezTo>
                <a:cubicBezTo>
                  <a:pt x="190488" y="248512"/>
                  <a:pt x="234845" y="211792"/>
                  <a:pt x="246457" y="162488"/>
                </a:cubicBezTo>
                <a:lnTo>
                  <a:pt x="137637" y="162488"/>
                </a:lnTo>
                <a:moveTo>
                  <a:pt x="120487" y="118"/>
                </a:moveTo>
                <a:cubicBezTo>
                  <a:pt x="129896" y="-1064"/>
                  <a:pt x="137637" y="6732"/>
                  <a:pt x="137637" y="16248"/>
                </a:cubicBezTo>
                <a:lnTo>
                  <a:pt x="137637" y="110875"/>
                </a:lnTo>
                <a:lnTo>
                  <a:pt x="137637" y="136683"/>
                </a:lnTo>
                <a:lnTo>
                  <a:pt x="163445" y="136683"/>
                </a:lnTo>
                <a:lnTo>
                  <a:pt x="258072" y="136683"/>
                </a:lnTo>
                <a:cubicBezTo>
                  <a:pt x="267588" y="136683"/>
                  <a:pt x="275384" y="144424"/>
                  <a:pt x="274202" y="153833"/>
                </a:cubicBezTo>
                <a:cubicBezTo>
                  <a:pt x="265761" y="221738"/>
                  <a:pt x="207855" y="274320"/>
                  <a:pt x="137640" y="274320"/>
                </a:cubicBezTo>
                <a:cubicBezTo>
                  <a:pt x="61618" y="274320"/>
                  <a:pt x="3" y="212705"/>
                  <a:pt x="3" y="136683"/>
                </a:cubicBezTo>
                <a:cubicBezTo>
                  <a:pt x="3" y="66465"/>
                  <a:pt x="52584" y="8562"/>
                  <a:pt x="120490" y="121"/>
                </a:cubicBezTo>
                <a:lnTo>
                  <a:pt x="120487" y="118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71147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879522" y="6309360"/>
            <a:ext cx="68484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智能招聘管理与数据分析平台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52648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0" y="0"/>
            <a:ext cx="2750841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0" y="0"/>
            <a:ext cx="2750841" cy="6858000"/>
          </a:xfrm>
          <a:prstGeom prst="rect">
            <a:avLst/>
          </a:prstGeom>
          <a:blipFill>
            <a:blip r:embed="rId1"/>
            <a:srcRect l="0" t="0" r="0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52648" y="1164795"/>
            <a:ext cx="8092401" cy="45719"/>
          </a:xfrm>
          <a:custGeom>
            <a:avLst/>
            <a:gdLst/>
            <a:ahLst/>
            <a:cxnLst/>
            <a:rect l="l" t="t" r="r" b="b"/>
            <a:pathLst>
              <a:path w="8092401" h="45719">
                <a:moveTo>
                  <a:pt x="0" y="0"/>
                </a:moveTo>
                <a:lnTo>
                  <a:pt x="8092401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52649" y="1"/>
            <a:ext cx="809507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系统技术要点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61883" y="1711700"/>
            <a:ext cx="548640" cy="54864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52648" y="3180099"/>
            <a:ext cx="548640" cy="54864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61883" y="4648499"/>
            <a:ext cx="548640" cy="54864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27211" y="5158185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585"/>
              </a:spcBef>
              <a:buNone/>
            </a:pPr>
            <a:r>
              <a:rPr lang="en-US" sz="76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招聘计划表：月度计划与目标</a:t>
            </a:r>
            <a:endParaRPr lang="en-US" sz="760" dirty="0"/>
          </a:p>
          <a:p>
            <a:pPr algn="l" marL="0" indent="0">
              <a:lnSpc>
                <a:spcPct val="90000"/>
              </a:lnSpc>
              <a:spcBef>
                <a:spcPts val="585"/>
              </a:spcBef>
              <a:buNone/>
            </a:pPr>
            <a:r>
              <a:rPr lang="en-US" sz="76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候选人表：基本信息与状态</a:t>
            </a:r>
            <a:endParaRPr lang="en-US" sz="760" dirty="0"/>
          </a:p>
          <a:p>
            <a:pPr algn="l" marL="0" indent="0">
              <a:lnSpc>
                <a:spcPct val="90000"/>
              </a:lnSpc>
              <a:spcBef>
                <a:spcPts val="585"/>
              </a:spcBef>
              <a:buNone/>
            </a:pPr>
            <a:r>
              <a:rPr lang="en-US" sz="76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面试记录表：多轮面试详情</a:t>
            </a:r>
            <a:endParaRPr lang="en-US" sz="760" dirty="0"/>
          </a:p>
          <a:p>
            <a:pPr algn="l" marL="0" indent="0">
              <a:lnSpc>
                <a:spcPct val="90000"/>
              </a:lnSpc>
              <a:spcBef>
                <a:spcPts val="585"/>
              </a:spcBef>
              <a:buNone/>
            </a:pPr>
            <a:r>
              <a:rPr lang="en-US" sz="76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流失记录表：流失原因归档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4327211" y="4648499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数据库设计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27211" y="3672457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585"/>
              </a:spcBef>
              <a:buNone/>
            </a:pPr>
            <a:r>
              <a:rPr lang="en-US" sz="76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候选人状态机：流程状态自动流转</a:t>
            </a:r>
            <a:endParaRPr lang="en-US" sz="760" dirty="0"/>
          </a:p>
          <a:p>
            <a:pPr algn="l" marL="0" indent="0">
              <a:lnSpc>
                <a:spcPct val="90000"/>
              </a:lnSpc>
              <a:spcBef>
                <a:spcPts val="585"/>
              </a:spcBef>
              <a:buNone/>
            </a:pPr>
            <a:r>
              <a:rPr lang="en-US" sz="76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数据统计引擎：实时计算漏斗数据</a:t>
            </a:r>
            <a:endParaRPr lang="en-US" sz="760" dirty="0"/>
          </a:p>
          <a:p>
            <a:pPr algn="l" marL="0" indent="0">
              <a:lnSpc>
                <a:spcPct val="90000"/>
              </a:lnSpc>
              <a:spcBef>
                <a:spcPts val="585"/>
              </a:spcBef>
              <a:buNone/>
            </a:pPr>
            <a:r>
              <a:rPr lang="en-US" sz="76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权限管理：共享账号模式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4327211" y="3180099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后端逻辑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27211" y="2200363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585"/>
              </a:spcBef>
              <a:buNone/>
            </a:pPr>
            <a:r>
              <a:rPr lang="en-US" sz="76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面试时间：行内编辑（inline editing）</a:t>
            </a:r>
            <a:endParaRPr lang="en-US" sz="760" dirty="0"/>
          </a:p>
          <a:p>
            <a:pPr algn="l" marL="0" indent="0">
              <a:lnSpc>
                <a:spcPct val="90000"/>
              </a:lnSpc>
              <a:spcBef>
                <a:spcPts val="585"/>
              </a:spcBef>
              <a:buNone/>
            </a:pPr>
            <a:r>
              <a:rPr lang="en-US" sz="76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日期时间选择器：DateTimePicker组件</a:t>
            </a:r>
            <a:endParaRPr lang="en-US" sz="760" dirty="0"/>
          </a:p>
          <a:p>
            <a:pPr algn="l" marL="0" indent="0">
              <a:lnSpc>
                <a:spcPct val="90000"/>
              </a:lnSpc>
              <a:spcBef>
                <a:spcPts val="585"/>
              </a:spcBef>
              <a:buNone/>
            </a:pPr>
            <a:r>
              <a:rPr lang="en-US" sz="76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实时保存机制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4327211" y="17117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前端交互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16188" y="4785659"/>
            <a:ext cx="240030" cy="274320"/>
          </a:xfrm>
          <a:custGeom>
            <a:avLst/>
            <a:gdLst/>
            <a:ahLst/>
            <a:cxnLst/>
            <a:rect l="l" t="t" r="r" b="b"/>
            <a:pathLst>
              <a:path w="240030" h="274320">
                <a:moveTo>
                  <a:pt x="214313" y="46078"/>
                </a:moveTo>
                <a:lnTo>
                  <a:pt x="214313" y="93601"/>
                </a:lnTo>
                <a:cubicBezTo>
                  <a:pt x="207187" y="97458"/>
                  <a:pt x="197381" y="101208"/>
                  <a:pt x="184953" y="104264"/>
                </a:cubicBezTo>
                <a:cubicBezTo>
                  <a:pt x="166790" y="108765"/>
                  <a:pt x="144395" y="111443"/>
                  <a:pt x="120015" y="111443"/>
                </a:cubicBezTo>
                <a:cubicBezTo>
                  <a:pt x="95638" y="111443"/>
                  <a:pt x="73240" y="108762"/>
                  <a:pt x="55077" y="104264"/>
                </a:cubicBezTo>
                <a:cubicBezTo>
                  <a:pt x="42646" y="101210"/>
                  <a:pt x="32843" y="97513"/>
                  <a:pt x="25717" y="93601"/>
                </a:cubicBezTo>
                <a:lnTo>
                  <a:pt x="25717" y="46078"/>
                </a:lnTo>
                <a:lnTo>
                  <a:pt x="26038" y="45809"/>
                </a:lnTo>
                <a:cubicBezTo>
                  <a:pt x="28878" y="43398"/>
                  <a:pt x="34557" y="40075"/>
                  <a:pt x="43827" y="36753"/>
                </a:cubicBezTo>
                <a:cubicBezTo>
                  <a:pt x="62098" y="30271"/>
                  <a:pt x="89046" y="25718"/>
                  <a:pt x="120015" y="25718"/>
                </a:cubicBezTo>
                <a:cubicBezTo>
                  <a:pt x="150984" y="25718"/>
                  <a:pt x="177932" y="30271"/>
                  <a:pt x="196203" y="36753"/>
                </a:cubicBezTo>
                <a:cubicBezTo>
                  <a:pt x="205473" y="40075"/>
                  <a:pt x="211097" y="43398"/>
                  <a:pt x="213992" y="45809"/>
                </a:cubicBezTo>
                <a:lnTo>
                  <a:pt x="214313" y="46078"/>
                </a:lnTo>
                <a:moveTo>
                  <a:pt x="214313" y="121891"/>
                </a:moveTo>
                <a:lnTo>
                  <a:pt x="214313" y="162181"/>
                </a:lnTo>
                <a:cubicBezTo>
                  <a:pt x="207187" y="166038"/>
                  <a:pt x="197381" y="169788"/>
                  <a:pt x="184953" y="172844"/>
                </a:cubicBezTo>
                <a:cubicBezTo>
                  <a:pt x="166790" y="177345"/>
                  <a:pt x="144395" y="180023"/>
                  <a:pt x="120015" y="180023"/>
                </a:cubicBezTo>
                <a:cubicBezTo>
                  <a:pt x="95638" y="180023"/>
                  <a:pt x="73240" y="177342"/>
                  <a:pt x="55077" y="172844"/>
                </a:cubicBezTo>
                <a:cubicBezTo>
                  <a:pt x="42646" y="169790"/>
                  <a:pt x="32843" y="166093"/>
                  <a:pt x="25717" y="162181"/>
                </a:cubicBezTo>
                <a:lnTo>
                  <a:pt x="25717" y="121891"/>
                </a:lnTo>
                <a:cubicBezTo>
                  <a:pt x="32843" y="124731"/>
                  <a:pt x="40666" y="127197"/>
                  <a:pt x="48916" y="129232"/>
                </a:cubicBezTo>
                <a:cubicBezTo>
                  <a:pt x="69383" y="134269"/>
                  <a:pt x="93869" y="137163"/>
                  <a:pt x="120015" y="137163"/>
                </a:cubicBezTo>
                <a:cubicBezTo>
                  <a:pt x="146162" y="137163"/>
                  <a:pt x="170647" y="134269"/>
                  <a:pt x="191114" y="129232"/>
                </a:cubicBezTo>
                <a:cubicBezTo>
                  <a:pt x="199364" y="127197"/>
                  <a:pt x="207187" y="124785"/>
                  <a:pt x="214313" y="121891"/>
                </a:cubicBezTo>
                <a:moveTo>
                  <a:pt x="25717" y="228242"/>
                </a:moveTo>
                <a:lnTo>
                  <a:pt x="25717" y="190523"/>
                </a:lnTo>
                <a:cubicBezTo>
                  <a:pt x="32843" y="193363"/>
                  <a:pt x="40666" y="195829"/>
                  <a:pt x="48916" y="197864"/>
                </a:cubicBezTo>
                <a:cubicBezTo>
                  <a:pt x="69383" y="202846"/>
                  <a:pt x="93869" y="205740"/>
                  <a:pt x="120015" y="205740"/>
                </a:cubicBezTo>
                <a:cubicBezTo>
                  <a:pt x="146162" y="205740"/>
                  <a:pt x="170647" y="202846"/>
                  <a:pt x="191114" y="197809"/>
                </a:cubicBezTo>
                <a:cubicBezTo>
                  <a:pt x="199364" y="195774"/>
                  <a:pt x="207187" y="193363"/>
                  <a:pt x="214313" y="190469"/>
                </a:cubicBezTo>
                <a:lnTo>
                  <a:pt x="214313" y="228188"/>
                </a:lnTo>
                <a:lnTo>
                  <a:pt x="213992" y="228456"/>
                </a:lnTo>
                <a:cubicBezTo>
                  <a:pt x="211152" y="230868"/>
                  <a:pt x="205473" y="234190"/>
                  <a:pt x="196203" y="237512"/>
                </a:cubicBezTo>
                <a:cubicBezTo>
                  <a:pt x="177932" y="244049"/>
                  <a:pt x="150984" y="248602"/>
                  <a:pt x="120015" y="248602"/>
                </a:cubicBezTo>
                <a:cubicBezTo>
                  <a:pt x="89046" y="248602"/>
                  <a:pt x="62098" y="244049"/>
                  <a:pt x="43827" y="237567"/>
                </a:cubicBezTo>
                <a:cubicBezTo>
                  <a:pt x="34557" y="234245"/>
                  <a:pt x="28933" y="230922"/>
                  <a:pt x="26038" y="228511"/>
                </a:cubicBezTo>
                <a:lnTo>
                  <a:pt x="25717" y="228242"/>
                </a:lnTo>
                <a:moveTo>
                  <a:pt x="215437" y="227118"/>
                </a:moveTo>
                <a:cubicBezTo>
                  <a:pt x="215437" y="227118"/>
                  <a:pt x="215437" y="227173"/>
                  <a:pt x="215329" y="227225"/>
                </a:cubicBezTo>
                <a:lnTo>
                  <a:pt x="215381" y="227118"/>
                </a:lnTo>
                <a:cubicBezTo>
                  <a:pt x="215381" y="227118"/>
                  <a:pt x="215381" y="227118"/>
                  <a:pt x="215381" y="227063"/>
                </a:cubicBezTo>
                <a:lnTo>
                  <a:pt x="215437" y="227118"/>
                </a:lnTo>
                <a:moveTo>
                  <a:pt x="24646" y="227118"/>
                </a:moveTo>
                <a:cubicBezTo>
                  <a:pt x="24646" y="227118"/>
                  <a:pt x="24646" y="227173"/>
                  <a:pt x="24754" y="227225"/>
                </a:cubicBezTo>
                <a:cubicBezTo>
                  <a:pt x="24702" y="227170"/>
                  <a:pt x="24702" y="227118"/>
                  <a:pt x="24646" y="227118"/>
                </a:cubicBezTo>
                <a:moveTo>
                  <a:pt x="24646" y="47202"/>
                </a:moveTo>
                <a:cubicBezTo>
                  <a:pt x="24646" y="47202"/>
                  <a:pt x="24699" y="47147"/>
                  <a:pt x="24754" y="47095"/>
                </a:cubicBezTo>
                <a:cubicBezTo>
                  <a:pt x="24702" y="47150"/>
                  <a:pt x="24646" y="47202"/>
                  <a:pt x="24646" y="47202"/>
                </a:cubicBezTo>
                <a:moveTo>
                  <a:pt x="215384" y="47095"/>
                </a:moveTo>
                <a:cubicBezTo>
                  <a:pt x="215436" y="47150"/>
                  <a:pt x="215492" y="47202"/>
                  <a:pt x="215492" y="47202"/>
                </a:cubicBezTo>
                <a:cubicBezTo>
                  <a:pt x="215492" y="47202"/>
                  <a:pt x="215492" y="47147"/>
                  <a:pt x="215384" y="47095"/>
                </a:cubicBezTo>
                <a:moveTo>
                  <a:pt x="240030" y="231458"/>
                </a:moveTo>
                <a:lnTo>
                  <a:pt x="240030" y="42863"/>
                </a:lnTo>
                <a:cubicBezTo>
                  <a:pt x="240030" y="19180"/>
                  <a:pt x="186292" y="0"/>
                  <a:pt x="120015" y="0"/>
                </a:cubicBezTo>
                <a:cubicBezTo>
                  <a:pt x="53738" y="0"/>
                  <a:pt x="0" y="19180"/>
                  <a:pt x="0" y="42863"/>
                </a:cubicBezTo>
                <a:lnTo>
                  <a:pt x="0" y="231458"/>
                </a:lnTo>
                <a:cubicBezTo>
                  <a:pt x="0" y="255140"/>
                  <a:pt x="53738" y="274320"/>
                  <a:pt x="120015" y="274320"/>
                </a:cubicBezTo>
                <a:cubicBezTo>
                  <a:pt x="186292" y="274320"/>
                  <a:pt x="240030" y="255140"/>
                  <a:pt x="240030" y="231458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589835" y="3317259"/>
            <a:ext cx="274266" cy="274320"/>
          </a:xfrm>
          <a:custGeom>
            <a:avLst/>
            <a:gdLst/>
            <a:ahLst/>
            <a:cxnLst/>
            <a:rect l="l" t="t" r="r" b="b"/>
            <a:pathLst>
              <a:path w="274266" h="274320">
                <a:moveTo>
                  <a:pt x="100853" y="19666"/>
                </a:moveTo>
                <a:cubicBezTo>
                  <a:pt x="103640" y="8145"/>
                  <a:pt x="113982" y="0"/>
                  <a:pt x="125880" y="0"/>
                </a:cubicBezTo>
                <a:lnTo>
                  <a:pt x="148493" y="0"/>
                </a:lnTo>
                <a:cubicBezTo>
                  <a:pt x="160391" y="0"/>
                  <a:pt x="170734" y="8145"/>
                  <a:pt x="173520" y="19666"/>
                </a:cubicBezTo>
                <a:lnTo>
                  <a:pt x="177914" y="38048"/>
                </a:lnTo>
                <a:lnTo>
                  <a:pt x="178504" y="38262"/>
                </a:lnTo>
                <a:lnTo>
                  <a:pt x="194581" y="28403"/>
                </a:lnTo>
                <a:cubicBezTo>
                  <a:pt x="204710" y="22187"/>
                  <a:pt x="217784" y="23740"/>
                  <a:pt x="226199" y="32153"/>
                </a:cubicBezTo>
                <a:lnTo>
                  <a:pt x="242169" y="48121"/>
                </a:lnTo>
                <a:cubicBezTo>
                  <a:pt x="250584" y="56535"/>
                  <a:pt x="252136" y="69611"/>
                  <a:pt x="245921" y="79739"/>
                </a:cubicBezTo>
                <a:lnTo>
                  <a:pt x="236061" y="95817"/>
                </a:lnTo>
                <a:lnTo>
                  <a:pt x="236275" y="96407"/>
                </a:lnTo>
                <a:lnTo>
                  <a:pt x="254602" y="100854"/>
                </a:lnTo>
                <a:cubicBezTo>
                  <a:pt x="266176" y="103641"/>
                  <a:pt x="274269" y="113983"/>
                  <a:pt x="274269" y="125880"/>
                </a:cubicBezTo>
                <a:lnTo>
                  <a:pt x="274269" y="148495"/>
                </a:lnTo>
                <a:cubicBezTo>
                  <a:pt x="274269" y="160392"/>
                  <a:pt x="266124" y="170734"/>
                  <a:pt x="254602" y="173521"/>
                </a:cubicBezTo>
                <a:lnTo>
                  <a:pt x="236327" y="177916"/>
                </a:lnTo>
                <a:lnTo>
                  <a:pt x="236114" y="178506"/>
                </a:lnTo>
                <a:lnTo>
                  <a:pt x="245973" y="194583"/>
                </a:lnTo>
                <a:cubicBezTo>
                  <a:pt x="252191" y="204711"/>
                  <a:pt x="250636" y="217788"/>
                  <a:pt x="242221" y="226202"/>
                </a:cubicBezTo>
                <a:lnTo>
                  <a:pt x="226251" y="242170"/>
                </a:lnTo>
                <a:cubicBezTo>
                  <a:pt x="217836" y="250583"/>
                  <a:pt x="204762" y="252139"/>
                  <a:pt x="194633" y="245920"/>
                </a:cubicBezTo>
                <a:lnTo>
                  <a:pt x="178556" y="236061"/>
                </a:lnTo>
                <a:lnTo>
                  <a:pt x="177914" y="236330"/>
                </a:lnTo>
                <a:lnTo>
                  <a:pt x="173465" y="254657"/>
                </a:lnTo>
                <a:cubicBezTo>
                  <a:pt x="170679" y="266233"/>
                  <a:pt x="160336" y="274323"/>
                  <a:pt x="148439" y="274323"/>
                </a:cubicBezTo>
                <a:lnTo>
                  <a:pt x="125825" y="274323"/>
                </a:lnTo>
                <a:cubicBezTo>
                  <a:pt x="113928" y="274323"/>
                  <a:pt x="103585" y="266178"/>
                  <a:pt x="100799" y="254657"/>
                </a:cubicBezTo>
                <a:lnTo>
                  <a:pt x="96457" y="236330"/>
                </a:lnTo>
                <a:lnTo>
                  <a:pt x="95867" y="236116"/>
                </a:lnTo>
                <a:lnTo>
                  <a:pt x="79790" y="245975"/>
                </a:lnTo>
                <a:cubicBezTo>
                  <a:pt x="69661" y="252191"/>
                  <a:pt x="56587" y="250638"/>
                  <a:pt x="48172" y="242225"/>
                </a:cubicBezTo>
                <a:lnTo>
                  <a:pt x="32202" y="226202"/>
                </a:lnTo>
                <a:cubicBezTo>
                  <a:pt x="23787" y="217788"/>
                  <a:pt x="22235" y="204711"/>
                  <a:pt x="28450" y="194583"/>
                </a:cubicBezTo>
                <a:lnTo>
                  <a:pt x="38310" y="178506"/>
                </a:lnTo>
                <a:lnTo>
                  <a:pt x="38041" y="177916"/>
                </a:lnTo>
                <a:lnTo>
                  <a:pt x="19714" y="173469"/>
                </a:lnTo>
                <a:cubicBezTo>
                  <a:pt x="8140" y="170737"/>
                  <a:pt x="-6" y="160392"/>
                  <a:pt x="-6" y="148498"/>
                </a:cubicBezTo>
                <a:lnTo>
                  <a:pt x="-6" y="125883"/>
                </a:lnTo>
                <a:cubicBezTo>
                  <a:pt x="-6" y="113985"/>
                  <a:pt x="8140" y="103644"/>
                  <a:pt x="19662" y="100857"/>
                </a:cubicBezTo>
                <a:lnTo>
                  <a:pt x="38043" y="96462"/>
                </a:lnTo>
                <a:lnTo>
                  <a:pt x="38257" y="95872"/>
                </a:lnTo>
                <a:lnTo>
                  <a:pt x="28397" y="79794"/>
                </a:lnTo>
                <a:cubicBezTo>
                  <a:pt x="22180" y="69666"/>
                  <a:pt x="23735" y="56590"/>
                  <a:pt x="32149" y="48176"/>
                </a:cubicBezTo>
                <a:lnTo>
                  <a:pt x="48172" y="32208"/>
                </a:lnTo>
                <a:cubicBezTo>
                  <a:pt x="56587" y="23794"/>
                  <a:pt x="69661" y="22239"/>
                  <a:pt x="79790" y="28458"/>
                </a:cubicBezTo>
                <a:lnTo>
                  <a:pt x="95867" y="38317"/>
                </a:lnTo>
                <a:lnTo>
                  <a:pt x="96457" y="38048"/>
                </a:lnTo>
                <a:lnTo>
                  <a:pt x="100905" y="19721"/>
                </a:lnTo>
                <a:lnTo>
                  <a:pt x="100853" y="19666"/>
                </a:lnTo>
                <a:moveTo>
                  <a:pt x="148493" y="25723"/>
                </a:moveTo>
                <a:lnTo>
                  <a:pt x="125880" y="25723"/>
                </a:lnTo>
                <a:lnTo>
                  <a:pt x="119824" y="50694"/>
                </a:lnTo>
                <a:cubicBezTo>
                  <a:pt x="118807" y="54982"/>
                  <a:pt x="115589" y="58466"/>
                  <a:pt x="111410" y="59857"/>
                </a:cubicBezTo>
                <a:cubicBezTo>
                  <a:pt x="107765" y="61088"/>
                  <a:pt x="104175" y="62537"/>
                  <a:pt x="100746" y="64251"/>
                </a:cubicBezTo>
                <a:cubicBezTo>
                  <a:pt x="96780" y="66235"/>
                  <a:pt x="92066" y="66021"/>
                  <a:pt x="88259" y="63716"/>
                </a:cubicBezTo>
                <a:lnTo>
                  <a:pt x="66342" y="50373"/>
                </a:lnTo>
                <a:lnTo>
                  <a:pt x="50372" y="66342"/>
                </a:lnTo>
                <a:lnTo>
                  <a:pt x="63770" y="88260"/>
                </a:lnTo>
                <a:cubicBezTo>
                  <a:pt x="66073" y="92065"/>
                  <a:pt x="66287" y="96780"/>
                  <a:pt x="64304" y="100747"/>
                </a:cubicBezTo>
                <a:cubicBezTo>
                  <a:pt x="62590" y="104176"/>
                  <a:pt x="61090" y="107715"/>
                  <a:pt x="59911" y="111410"/>
                </a:cubicBezTo>
                <a:cubicBezTo>
                  <a:pt x="58517" y="115642"/>
                  <a:pt x="55034" y="118805"/>
                  <a:pt x="50747" y="119823"/>
                </a:cubicBezTo>
                <a:lnTo>
                  <a:pt x="25721" y="125877"/>
                </a:lnTo>
                <a:lnTo>
                  <a:pt x="25721" y="148492"/>
                </a:lnTo>
                <a:lnTo>
                  <a:pt x="50693" y="154547"/>
                </a:lnTo>
                <a:cubicBezTo>
                  <a:pt x="54979" y="155564"/>
                  <a:pt x="58462" y="158779"/>
                  <a:pt x="59856" y="162960"/>
                </a:cubicBezTo>
                <a:cubicBezTo>
                  <a:pt x="61087" y="166603"/>
                  <a:pt x="62535" y="170194"/>
                  <a:pt x="64250" y="173623"/>
                </a:cubicBezTo>
                <a:cubicBezTo>
                  <a:pt x="66232" y="177590"/>
                  <a:pt x="66019" y="182305"/>
                  <a:pt x="63715" y="186110"/>
                </a:cubicBezTo>
                <a:lnTo>
                  <a:pt x="50372" y="208028"/>
                </a:lnTo>
                <a:lnTo>
                  <a:pt x="66342" y="223996"/>
                </a:lnTo>
                <a:lnTo>
                  <a:pt x="88259" y="210599"/>
                </a:lnTo>
                <a:cubicBezTo>
                  <a:pt x="92063" y="208294"/>
                  <a:pt x="96780" y="208080"/>
                  <a:pt x="100746" y="210064"/>
                </a:cubicBezTo>
                <a:cubicBezTo>
                  <a:pt x="104175" y="211778"/>
                  <a:pt x="107713" y="213279"/>
                  <a:pt x="111410" y="214458"/>
                </a:cubicBezTo>
                <a:cubicBezTo>
                  <a:pt x="115644" y="215852"/>
                  <a:pt x="118804" y="219336"/>
                  <a:pt x="119824" y="223621"/>
                </a:cubicBezTo>
                <a:lnTo>
                  <a:pt x="125880" y="248647"/>
                </a:lnTo>
                <a:lnTo>
                  <a:pt x="148493" y="248647"/>
                </a:lnTo>
                <a:lnTo>
                  <a:pt x="154549" y="223675"/>
                </a:lnTo>
                <a:cubicBezTo>
                  <a:pt x="155567" y="219388"/>
                  <a:pt x="158784" y="215904"/>
                  <a:pt x="162964" y="214513"/>
                </a:cubicBezTo>
                <a:cubicBezTo>
                  <a:pt x="166609" y="213282"/>
                  <a:pt x="170199" y="211833"/>
                  <a:pt x="173627" y="210119"/>
                </a:cubicBezTo>
                <a:cubicBezTo>
                  <a:pt x="177593" y="208135"/>
                  <a:pt x="182308" y="208349"/>
                  <a:pt x="186114" y="210653"/>
                </a:cubicBezTo>
                <a:lnTo>
                  <a:pt x="208031" y="224051"/>
                </a:lnTo>
                <a:lnTo>
                  <a:pt x="224002" y="208028"/>
                </a:lnTo>
                <a:lnTo>
                  <a:pt x="210604" y="186110"/>
                </a:lnTo>
                <a:cubicBezTo>
                  <a:pt x="208300" y="182305"/>
                  <a:pt x="208086" y="177590"/>
                  <a:pt x="210069" y="173623"/>
                </a:cubicBezTo>
                <a:cubicBezTo>
                  <a:pt x="211783" y="170194"/>
                  <a:pt x="213283" y="166655"/>
                  <a:pt x="214463" y="162960"/>
                </a:cubicBezTo>
                <a:cubicBezTo>
                  <a:pt x="215856" y="158727"/>
                  <a:pt x="219339" y="155564"/>
                  <a:pt x="223626" y="154547"/>
                </a:cubicBezTo>
                <a:lnTo>
                  <a:pt x="248653" y="148492"/>
                </a:lnTo>
                <a:lnTo>
                  <a:pt x="248653" y="125877"/>
                </a:lnTo>
                <a:lnTo>
                  <a:pt x="223681" y="119823"/>
                </a:lnTo>
                <a:cubicBezTo>
                  <a:pt x="219394" y="118805"/>
                  <a:pt x="215911" y="115590"/>
                  <a:pt x="214518" y="111410"/>
                </a:cubicBezTo>
                <a:cubicBezTo>
                  <a:pt x="213286" y="107767"/>
                  <a:pt x="211838" y="104176"/>
                  <a:pt x="210124" y="100747"/>
                </a:cubicBezTo>
                <a:cubicBezTo>
                  <a:pt x="208141" y="96780"/>
                  <a:pt x="208355" y="92065"/>
                  <a:pt x="210659" y="88260"/>
                </a:cubicBezTo>
                <a:lnTo>
                  <a:pt x="224057" y="66342"/>
                </a:lnTo>
                <a:lnTo>
                  <a:pt x="208034" y="50373"/>
                </a:lnTo>
                <a:lnTo>
                  <a:pt x="186117" y="63771"/>
                </a:lnTo>
                <a:cubicBezTo>
                  <a:pt x="182313" y="66075"/>
                  <a:pt x="177596" y="66289"/>
                  <a:pt x="173630" y="64306"/>
                </a:cubicBezTo>
                <a:cubicBezTo>
                  <a:pt x="170202" y="62592"/>
                  <a:pt x="166663" y="61091"/>
                  <a:pt x="162966" y="59911"/>
                </a:cubicBezTo>
                <a:cubicBezTo>
                  <a:pt x="158732" y="58518"/>
                  <a:pt x="155572" y="55034"/>
                  <a:pt x="154552" y="50749"/>
                </a:cubicBezTo>
                <a:lnTo>
                  <a:pt x="148493" y="25723"/>
                </a:lnTo>
                <a:moveTo>
                  <a:pt x="156318" y="87511"/>
                </a:moveTo>
                <a:lnTo>
                  <a:pt x="139171" y="190400"/>
                </a:lnTo>
                <a:cubicBezTo>
                  <a:pt x="138206" y="196240"/>
                  <a:pt x="132687" y="200207"/>
                  <a:pt x="126845" y="199189"/>
                </a:cubicBezTo>
                <a:cubicBezTo>
                  <a:pt x="121004" y="198172"/>
                  <a:pt x="117038" y="192704"/>
                  <a:pt x="118058" y="186864"/>
                </a:cubicBezTo>
                <a:lnTo>
                  <a:pt x="135205" y="83975"/>
                </a:lnTo>
                <a:cubicBezTo>
                  <a:pt x="136171" y="78135"/>
                  <a:pt x="141689" y="74168"/>
                  <a:pt x="147531" y="75186"/>
                </a:cubicBezTo>
                <a:cubicBezTo>
                  <a:pt x="153373" y="76203"/>
                  <a:pt x="157338" y="81671"/>
                  <a:pt x="156318" y="87511"/>
                </a:cubicBezTo>
                <a:lnTo>
                  <a:pt x="156318" y="87511"/>
                </a:lnTo>
                <a:moveTo>
                  <a:pt x="106160" y="123362"/>
                </a:moveTo>
                <a:lnTo>
                  <a:pt x="92335" y="137187"/>
                </a:lnTo>
                <a:lnTo>
                  <a:pt x="106215" y="151068"/>
                </a:lnTo>
                <a:cubicBezTo>
                  <a:pt x="110395" y="155249"/>
                  <a:pt x="110395" y="162055"/>
                  <a:pt x="106215" y="166232"/>
                </a:cubicBezTo>
                <a:cubicBezTo>
                  <a:pt x="102035" y="170413"/>
                  <a:pt x="95231" y="170413"/>
                  <a:pt x="91048" y="166232"/>
                </a:cubicBezTo>
                <a:lnTo>
                  <a:pt x="69612" y="144797"/>
                </a:lnTo>
                <a:cubicBezTo>
                  <a:pt x="65432" y="140616"/>
                  <a:pt x="65432" y="133811"/>
                  <a:pt x="69612" y="129633"/>
                </a:cubicBezTo>
                <a:lnTo>
                  <a:pt x="91048" y="108197"/>
                </a:lnTo>
                <a:cubicBezTo>
                  <a:pt x="95228" y="104017"/>
                  <a:pt x="102033" y="104017"/>
                  <a:pt x="106215" y="108197"/>
                </a:cubicBezTo>
                <a:cubicBezTo>
                  <a:pt x="110395" y="112378"/>
                  <a:pt x="110395" y="119184"/>
                  <a:pt x="106215" y="123362"/>
                </a:cubicBezTo>
                <a:lnTo>
                  <a:pt x="106160" y="123362"/>
                </a:lnTo>
                <a:moveTo>
                  <a:pt x="183328" y="108195"/>
                </a:moveTo>
                <a:lnTo>
                  <a:pt x="204765" y="129630"/>
                </a:lnTo>
                <a:cubicBezTo>
                  <a:pt x="208944" y="133811"/>
                  <a:pt x="208944" y="140616"/>
                  <a:pt x="204765" y="144794"/>
                </a:cubicBezTo>
                <a:lnTo>
                  <a:pt x="183328" y="166230"/>
                </a:lnTo>
                <a:cubicBezTo>
                  <a:pt x="179148" y="170410"/>
                  <a:pt x="172344" y="170410"/>
                  <a:pt x="168161" y="166230"/>
                </a:cubicBezTo>
                <a:cubicBezTo>
                  <a:pt x="163981" y="162049"/>
                  <a:pt x="163981" y="155243"/>
                  <a:pt x="168161" y="151065"/>
                </a:cubicBezTo>
                <a:lnTo>
                  <a:pt x="182042" y="137185"/>
                </a:lnTo>
                <a:lnTo>
                  <a:pt x="168161" y="123304"/>
                </a:lnTo>
                <a:cubicBezTo>
                  <a:pt x="163981" y="119123"/>
                  <a:pt x="163981" y="112318"/>
                  <a:pt x="168161" y="108140"/>
                </a:cubicBezTo>
                <a:cubicBezTo>
                  <a:pt x="172341" y="103959"/>
                  <a:pt x="179145" y="103959"/>
                  <a:pt x="183328" y="108140"/>
                </a:cubicBezTo>
                <a:lnTo>
                  <a:pt x="183328" y="10819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599053" y="1848860"/>
            <a:ext cx="274300" cy="274320"/>
          </a:xfrm>
          <a:custGeom>
            <a:avLst/>
            <a:gdLst/>
            <a:ahLst/>
            <a:cxnLst/>
            <a:rect l="l" t="t" r="r" b="b"/>
            <a:pathLst>
              <a:path w="274300" h="274320">
                <a:moveTo>
                  <a:pt x="19519" y="193264"/>
                </a:moveTo>
                <a:lnTo>
                  <a:pt x="7184" y="235150"/>
                </a:lnTo>
                <a:lnTo>
                  <a:pt x="535" y="257784"/>
                </a:lnTo>
                <a:cubicBezTo>
                  <a:pt x="-806" y="262343"/>
                  <a:pt x="428" y="267223"/>
                  <a:pt x="3752" y="270548"/>
                </a:cubicBezTo>
                <a:cubicBezTo>
                  <a:pt x="7077" y="273873"/>
                  <a:pt x="11959" y="275107"/>
                  <a:pt x="16464" y="273821"/>
                </a:cubicBezTo>
                <a:lnTo>
                  <a:pt x="39151" y="267116"/>
                </a:lnTo>
                <a:lnTo>
                  <a:pt x="81037" y="254780"/>
                </a:lnTo>
                <a:cubicBezTo>
                  <a:pt x="87686" y="252849"/>
                  <a:pt x="93748" y="249469"/>
                  <a:pt x="98949" y="244913"/>
                </a:cubicBezTo>
                <a:cubicBezTo>
                  <a:pt x="99700" y="244268"/>
                  <a:pt x="100397" y="243571"/>
                  <a:pt x="101094" y="242875"/>
                </a:cubicBezTo>
                <a:lnTo>
                  <a:pt x="264242" y="79778"/>
                </a:lnTo>
                <a:cubicBezTo>
                  <a:pt x="275988" y="68031"/>
                  <a:pt x="277436" y="49959"/>
                  <a:pt x="268639" y="36602"/>
                </a:cubicBezTo>
                <a:cubicBezTo>
                  <a:pt x="267405" y="34726"/>
                  <a:pt x="265904" y="32902"/>
                  <a:pt x="264242" y="31240"/>
                </a:cubicBezTo>
                <a:lnTo>
                  <a:pt x="243110" y="10054"/>
                </a:lnTo>
                <a:cubicBezTo>
                  <a:pt x="229702" y="-3355"/>
                  <a:pt x="207980" y="-3355"/>
                  <a:pt x="194572" y="10054"/>
                </a:cubicBezTo>
                <a:lnTo>
                  <a:pt x="31424" y="173203"/>
                </a:lnTo>
                <a:cubicBezTo>
                  <a:pt x="25848" y="178780"/>
                  <a:pt x="21771" y="185698"/>
                  <a:pt x="19517" y="193261"/>
                </a:cubicBezTo>
                <a:lnTo>
                  <a:pt x="19519" y="193264"/>
                </a:lnTo>
                <a:moveTo>
                  <a:pt x="44190" y="200503"/>
                </a:moveTo>
                <a:cubicBezTo>
                  <a:pt x="45100" y="197499"/>
                  <a:pt x="46604" y="194710"/>
                  <a:pt x="48694" y="192350"/>
                </a:cubicBezTo>
                <a:cubicBezTo>
                  <a:pt x="49015" y="192029"/>
                  <a:pt x="49284" y="191706"/>
                  <a:pt x="49604" y="191385"/>
                </a:cubicBezTo>
                <a:lnTo>
                  <a:pt x="172154" y="68890"/>
                </a:lnTo>
                <a:lnTo>
                  <a:pt x="205404" y="102143"/>
                </a:lnTo>
                <a:lnTo>
                  <a:pt x="82907" y="224693"/>
                </a:lnTo>
                <a:cubicBezTo>
                  <a:pt x="80387" y="227214"/>
                  <a:pt x="77221" y="229090"/>
                  <a:pt x="73790" y="230111"/>
                </a:cubicBezTo>
                <a:lnTo>
                  <a:pt x="61240" y="233811"/>
                </a:lnTo>
                <a:lnTo>
                  <a:pt x="31849" y="242447"/>
                </a:lnTo>
                <a:lnTo>
                  <a:pt x="40484" y="213056"/>
                </a:lnTo>
                <a:lnTo>
                  <a:pt x="44190" y="200503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655241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655243" y="0"/>
            <a:ext cx="536757" cy="6858000"/>
          </a:xfrm>
          <a:prstGeom prst="rect">
            <a:avLst/>
          </a:prstGeom>
          <a:blipFill>
            <a:blip r:embed="rId1"/>
            <a:srcRect l="0" t="0" r="80488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81" y="1159247"/>
            <a:ext cx="7951470" cy="45719"/>
          </a:xfrm>
          <a:custGeom>
            <a:avLst/>
            <a:gdLst/>
            <a:ahLst/>
            <a:cxnLst/>
            <a:rect l="l" t="t" r="r" b="b"/>
            <a:pathLst>
              <a:path w="7951470" h="45719">
                <a:moveTo>
                  <a:pt x="0" y="0"/>
                </a:moveTo>
                <a:lnTo>
                  <a:pt x="795147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1"/>
            <a:ext cx="8032593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系统价值与下一步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900160" y="0"/>
            <a:ext cx="3291840" cy="6858000"/>
          </a:xfrm>
          <a:prstGeom prst="rect">
            <a:avLst/>
          </a:prstGeom>
          <a:blipFill>
            <a:blip r:embed="rId2"/>
            <a:srcRect/>
            <a:stretch>
              <a:fillRect l="-117294" r="-117294" t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57765" y="6309360"/>
            <a:ext cx="71302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智能招聘管理与数据分析平台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112353" y="2808139"/>
            <a:ext cx="2560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原型设计与评审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技术选型与开发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测试上线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持续优化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12353" y="20680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下一步计划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12353" y="144144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14338" y="228600"/>
                </a:moveTo>
                <a:cubicBezTo>
                  <a:pt x="414338" y="126018"/>
                  <a:pt x="331182" y="42863"/>
                  <a:pt x="228600" y="42863"/>
                </a:cubicBezTo>
                <a:cubicBezTo>
                  <a:pt x="126018" y="42863"/>
                  <a:pt x="42863" y="126018"/>
                  <a:pt x="42863" y="228600"/>
                </a:cubicBezTo>
                <a:cubicBezTo>
                  <a:pt x="42863" y="331182"/>
                  <a:pt x="126018" y="414338"/>
                  <a:pt x="228600" y="414338"/>
                </a:cubicBezTo>
                <a:cubicBezTo>
                  <a:pt x="331182" y="414338"/>
                  <a:pt x="414338" y="331182"/>
                  <a:pt x="414338" y="228600"/>
                </a:cubicBezTo>
                <a:moveTo>
                  <a:pt x="0" y="228600"/>
                </a:moveTo>
                <a:cubicBezTo>
                  <a:pt x="0" y="102349"/>
                  <a:pt x="102349" y="0"/>
                  <a:pt x="228600" y="0"/>
                </a:cubicBezTo>
                <a:cubicBezTo>
                  <a:pt x="354851" y="0"/>
                  <a:pt x="457200" y="102349"/>
                  <a:pt x="457200" y="228600"/>
                </a:cubicBezTo>
                <a:cubicBezTo>
                  <a:pt x="457200" y="354851"/>
                  <a:pt x="354851" y="457200"/>
                  <a:pt x="228600" y="457200"/>
                </a:cubicBezTo>
                <a:cubicBezTo>
                  <a:pt x="102349" y="457200"/>
                  <a:pt x="0" y="354851"/>
                  <a:pt x="0" y="228600"/>
                </a:cubicBezTo>
                <a:moveTo>
                  <a:pt x="273872" y="290304"/>
                </a:moveTo>
                <a:lnTo>
                  <a:pt x="145015" y="339864"/>
                </a:lnTo>
                <a:cubicBezTo>
                  <a:pt x="127691" y="346562"/>
                  <a:pt x="110633" y="329504"/>
                  <a:pt x="117331" y="312181"/>
                </a:cubicBezTo>
                <a:lnTo>
                  <a:pt x="166892" y="183323"/>
                </a:lnTo>
                <a:cubicBezTo>
                  <a:pt x="169841" y="175734"/>
                  <a:pt x="175734" y="169841"/>
                  <a:pt x="183323" y="166892"/>
                </a:cubicBezTo>
                <a:lnTo>
                  <a:pt x="312181" y="117331"/>
                </a:lnTo>
                <a:cubicBezTo>
                  <a:pt x="329504" y="110633"/>
                  <a:pt x="346562" y="127691"/>
                  <a:pt x="339864" y="145015"/>
                </a:cubicBezTo>
                <a:lnTo>
                  <a:pt x="290304" y="273872"/>
                </a:lnTo>
                <a:cubicBezTo>
                  <a:pt x="287446" y="281461"/>
                  <a:pt x="281461" y="287355"/>
                  <a:pt x="273872" y="290304"/>
                </a:cubicBezTo>
                <a:lnTo>
                  <a:pt x="273872" y="290304"/>
                </a:lnTo>
                <a:moveTo>
                  <a:pt x="257175" y="228600"/>
                </a:moveTo>
                <a:cubicBezTo>
                  <a:pt x="257175" y="212817"/>
                  <a:pt x="244383" y="200025"/>
                  <a:pt x="228600" y="200025"/>
                </a:cubicBezTo>
                <a:cubicBezTo>
                  <a:pt x="212817" y="200025"/>
                  <a:pt x="200025" y="212817"/>
                  <a:pt x="200025" y="228600"/>
                </a:cubicBezTo>
                <a:cubicBezTo>
                  <a:pt x="200025" y="244383"/>
                  <a:pt x="212817" y="257175"/>
                  <a:pt x="228600" y="257175"/>
                </a:cubicBezTo>
                <a:cubicBezTo>
                  <a:pt x="244383" y="257175"/>
                  <a:pt x="257175" y="244383"/>
                  <a:pt x="257175" y="22860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78704" y="2808139"/>
            <a:ext cx="2560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招聘漏斗清晰可见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流失原因量化分析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目标达成实时追踪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78704" y="20680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系统核心价值：数据驱动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78704" y="1470024"/>
            <a:ext cx="457200" cy="400050"/>
          </a:xfrm>
          <a:custGeom>
            <a:avLst/>
            <a:gdLst/>
            <a:ahLst/>
            <a:cxnLst/>
            <a:rect l="l" t="t" r="r" b="b"/>
            <a:pathLst>
              <a:path w="457200" h="400050">
                <a:moveTo>
                  <a:pt x="21434" y="0"/>
                </a:moveTo>
                <a:cubicBezTo>
                  <a:pt x="33312" y="0"/>
                  <a:pt x="42867" y="9553"/>
                  <a:pt x="42867" y="21431"/>
                </a:cubicBezTo>
                <a:lnTo>
                  <a:pt x="42867" y="335754"/>
                </a:lnTo>
                <a:cubicBezTo>
                  <a:pt x="42867" y="347631"/>
                  <a:pt x="52423" y="357185"/>
                  <a:pt x="64301" y="357185"/>
                </a:cubicBezTo>
                <a:lnTo>
                  <a:pt x="435776" y="357185"/>
                </a:lnTo>
                <a:cubicBezTo>
                  <a:pt x="447654" y="357185"/>
                  <a:pt x="457209" y="366738"/>
                  <a:pt x="457209" y="378615"/>
                </a:cubicBezTo>
                <a:cubicBezTo>
                  <a:pt x="457209" y="390493"/>
                  <a:pt x="447654" y="400046"/>
                  <a:pt x="435780" y="400046"/>
                </a:cubicBezTo>
                <a:lnTo>
                  <a:pt x="64305" y="400046"/>
                </a:lnTo>
                <a:cubicBezTo>
                  <a:pt x="28767" y="400046"/>
                  <a:pt x="14" y="371290"/>
                  <a:pt x="14" y="335754"/>
                </a:cubicBezTo>
                <a:lnTo>
                  <a:pt x="14" y="21431"/>
                </a:lnTo>
                <a:cubicBezTo>
                  <a:pt x="14" y="9553"/>
                  <a:pt x="9569" y="0"/>
                  <a:pt x="21447" y="0"/>
                </a:cubicBezTo>
                <a:lnTo>
                  <a:pt x="21434" y="0"/>
                </a:lnTo>
              </a:path>
              <a:path w="457200" h="400050">
                <a:moveTo>
                  <a:pt x="150021" y="171449"/>
                </a:moveTo>
                <a:cubicBezTo>
                  <a:pt x="161899" y="171449"/>
                  <a:pt x="171455" y="181003"/>
                  <a:pt x="171455" y="192880"/>
                </a:cubicBezTo>
                <a:lnTo>
                  <a:pt x="171455" y="264317"/>
                </a:lnTo>
                <a:cubicBezTo>
                  <a:pt x="171455" y="276195"/>
                  <a:pt x="161899" y="285748"/>
                  <a:pt x="150026" y="285748"/>
                </a:cubicBezTo>
                <a:cubicBezTo>
                  <a:pt x="138148" y="285748"/>
                  <a:pt x="128597" y="276195"/>
                  <a:pt x="128597" y="264317"/>
                </a:cubicBezTo>
                <a:lnTo>
                  <a:pt x="128597" y="192880"/>
                </a:lnTo>
                <a:cubicBezTo>
                  <a:pt x="128597" y="181003"/>
                  <a:pt x="138152" y="171449"/>
                  <a:pt x="150030" y="171449"/>
                </a:cubicBezTo>
                <a:lnTo>
                  <a:pt x="150021" y="171449"/>
                </a:lnTo>
              </a:path>
              <a:path w="457200" h="400050">
                <a:moveTo>
                  <a:pt x="257175" y="107157"/>
                </a:moveTo>
                <a:lnTo>
                  <a:pt x="257175" y="264321"/>
                </a:lnTo>
                <a:cubicBezTo>
                  <a:pt x="257175" y="276199"/>
                  <a:pt x="247620" y="285752"/>
                  <a:pt x="235746" y="285752"/>
                </a:cubicBezTo>
                <a:cubicBezTo>
                  <a:pt x="223868" y="285752"/>
                  <a:pt x="214317" y="276199"/>
                  <a:pt x="214317" y="264321"/>
                </a:cubicBezTo>
                <a:lnTo>
                  <a:pt x="214317" y="107157"/>
                </a:lnTo>
                <a:cubicBezTo>
                  <a:pt x="214317" y="95280"/>
                  <a:pt x="223873" y="85727"/>
                  <a:pt x="235751" y="85727"/>
                </a:cubicBezTo>
                <a:cubicBezTo>
                  <a:pt x="247629" y="85727"/>
                  <a:pt x="257184" y="95280"/>
                  <a:pt x="257184" y="107157"/>
                </a:cubicBezTo>
                <a:lnTo>
                  <a:pt x="257175" y="107157"/>
                </a:lnTo>
              </a:path>
              <a:path w="457200" h="400050">
                <a:moveTo>
                  <a:pt x="321471" y="142874"/>
                </a:moveTo>
                <a:cubicBezTo>
                  <a:pt x="333349" y="142874"/>
                  <a:pt x="342905" y="152427"/>
                  <a:pt x="342905" y="164305"/>
                </a:cubicBezTo>
                <a:lnTo>
                  <a:pt x="342905" y="264317"/>
                </a:lnTo>
                <a:cubicBezTo>
                  <a:pt x="342905" y="276195"/>
                  <a:pt x="333349" y="285748"/>
                  <a:pt x="321476" y="285748"/>
                </a:cubicBezTo>
                <a:cubicBezTo>
                  <a:pt x="309598" y="285748"/>
                  <a:pt x="300047" y="276195"/>
                  <a:pt x="300047" y="264317"/>
                </a:cubicBezTo>
                <a:lnTo>
                  <a:pt x="300047" y="164305"/>
                </a:lnTo>
                <a:cubicBezTo>
                  <a:pt x="300047" y="152427"/>
                  <a:pt x="309602" y="142874"/>
                  <a:pt x="321480" y="142874"/>
                </a:cubicBezTo>
                <a:lnTo>
                  <a:pt x="321471" y="142874"/>
                </a:lnTo>
              </a:path>
              <a:path w="457200" h="400050">
                <a:moveTo>
                  <a:pt x="428625" y="50006"/>
                </a:moveTo>
                <a:lnTo>
                  <a:pt x="428625" y="264317"/>
                </a:lnTo>
                <a:cubicBezTo>
                  <a:pt x="428625" y="276195"/>
                  <a:pt x="419070" y="285748"/>
                  <a:pt x="407196" y="285748"/>
                </a:cubicBezTo>
                <a:cubicBezTo>
                  <a:pt x="395318" y="285748"/>
                  <a:pt x="385767" y="276195"/>
                  <a:pt x="385767" y="264317"/>
                </a:cubicBezTo>
                <a:lnTo>
                  <a:pt x="385767" y="50006"/>
                </a:lnTo>
                <a:cubicBezTo>
                  <a:pt x="385767" y="38129"/>
                  <a:pt x="395323" y="28576"/>
                  <a:pt x="407201" y="28576"/>
                </a:cubicBezTo>
                <a:cubicBezTo>
                  <a:pt x="419079" y="28576"/>
                  <a:pt x="428634" y="38129"/>
                  <a:pt x="428634" y="50006"/>
                </a:cubicBezTo>
                <a:lnTo>
                  <a:pt x="428625" y="50006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5055" y="2808139"/>
            <a:ext cx="2560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全流程数字化管理，减少手工记录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面试时间快速编辑，提升操作体验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5055" y="20680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系统核心价值：提升效率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4748" y="1441449"/>
            <a:ext cx="437813" cy="457200"/>
          </a:xfrm>
          <a:custGeom>
            <a:avLst/>
            <a:gdLst/>
            <a:ahLst/>
            <a:cxnLst/>
            <a:rect l="l" t="t" r="r" b="b"/>
            <a:pathLst>
              <a:path w="437813" h="457200">
                <a:moveTo>
                  <a:pt x="218911" y="0"/>
                </a:moveTo>
                <a:cubicBezTo>
                  <a:pt x="234090" y="0"/>
                  <a:pt x="248914" y="1518"/>
                  <a:pt x="263380" y="4289"/>
                </a:cubicBezTo>
                <a:cubicBezTo>
                  <a:pt x="270433" y="5628"/>
                  <a:pt x="282845" y="9734"/>
                  <a:pt x="289631" y="22238"/>
                </a:cubicBezTo>
                <a:cubicBezTo>
                  <a:pt x="291417" y="25544"/>
                  <a:pt x="292845" y="29023"/>
                  <a:pt x="293738" y="32777"/>
                </a:cubicBezTo>
                <a:lnTo>
                  <a:pt x="302043" y="67158"/>
                </a:lnTo>
                <a:cubicBezTo>
                  <a:pt x="303295" y="72338"/>
                  <a:pt x="312043" y="77427"/>
                  <a:pt x="317134" y="75909"/>
                </a:cubicBezTo>
                <a:lnTo>
                  <a:pt x="351069" y="65905"/>
                </a:lnTo>
                <a:cubicBezTo>
                  <a:pt x="354642" y="64836"/>
                  <a:pt x="358302" y="64296"/>
                  <a:pt x="361962" y="64209"/>
                </a:cubicBezTo>
                <a:cubicBezTo>
                  <a:pt x="376340" y="63761"/>
                  <a:pt x="386073" y="72603"/>
                  <a:pt x="390805" y="77962"/>
                </a:cubicBezTo>
                <a:cubicBezTo>
                  <a:pt x="410542" y="100374"/>
                  <a:pt x="425721" y="126718"/>
                  <a:pt x="435366" y="155023"/>
                </a:cubicBezTo>
                <a:cubicBezTo>
                  <a:pt x="437686" y="161808"/>
                  <a:pt x="440366" y="174490"/>
                  <a:pt x="432954" y="186634"/>
                </a:cubicBezTo>
                <a:cubicBezTo>
                  <a:pt x="430988" y="189848"/>
                  <a:pt x="428580" y="192884"/>
                  <a:pt x="425808" y="195563"/>
                </a:cubicBezTo>
                <a:lnTo>
                  <a:pt x="400179" y="219941"/>
                </a:lnTo>
                <a:cubicBezTo>
                  <a:pt x="396427" y="223511"/>
                  <a:pt x="396427" y="233780"/>
                  <a:pt x="400179" y="237355"/>
                </a:cubicBezTo>
                <a:lnTo>
                  <a:pt x="425808" y="261733"/>
                </a:lnTo>
                <a:cubicBezTo>
                  <a:pt x="428575" y="264412"/>
                  <a:pt x="430988" y="267448"/>
                  <a:pt x="432954" y="270662"/>
                </a:cubicBezTo>
                <a:cubicBezTo>
                  <a:pt x="440274" y="282806"/>
                  <a:pt x="437599" y="295488"/>
                  <a:pt x="435366" y="302273"/>
                </a:cubicBezTo>
                <a:cubicBezTo>
                  <a:pt x="425721" y="330578"/>
                  <a:pt x="410542" y="356835"/>
                  <a:pt x="390805" y="379334"/>
                </a:cubicBezTo>
                <a:cubicBezTo>
                  <a:pt x="386073" y="384693"/>
                  <a:pt x="376248" y="393530"/>
                  <a:pt x="361962" y="393087"/>
                </a:cubicBezTo>
                <a:cubicBezTo>
                  <a:pt x="358302" y="392995"/>
                  <a:pt x="354642" y="392374"/>
                  <a:pt x="351069" y="391391"/>
                </a:cubicBezTo>
                <a:lnTo>
                  <a:pt x="317134" y="381300"/>
                </a:lnTo>
                <a:cubicBezTo>
                  <a:pt x="312043" y="379782"/>
                  <a:pt x="303295" y="384871"/>
                  <a:pt x="302043" y="390051"/>
                </a:cubicBezTo>
                <a:lnTo>
                  <a:pt x="293738" y="424432"/>
                </a:lnTo>
                <a:cubicBezTo>
                  <a:pt x="292845" y="428182"/>
                  <a:pt x="291417" y="431757"/>
                  <a:pt x="289631" y="434971"/>
                </a:cubicBezTo>
                <a:cubicBezTo>
                  <a:pt x="282753" y="447471"/>
                  <a:pt x="270341" y="451490"/>
                  <a:pt x="263380" y="452921"/>
                </a:cubicBezTo>
                <a:cubicBezTo>
                  <a:pt x="248914" y="455687"/>
                  <a:pt x="234090" y="457205"/>
                  <a:pt x="218911" y="457205"/>
                </a:cubicBezTo>
                <a:cubicBezTo>
                  <a:pt x="203732" y="457205"/>
                  <a:pt x="188908" y="455687"/>
                  <a:pt x="174442" y="452916"/>
                </a:cubicBezTo>
                <a:cubicBezTo>
                  <a:pt x="167389" y="451576"/>
                  <a:pt x="154977" y="447471"/>
                  <a:pt x="148191" y="434966"/>
                </a:cubicBezTo>
                <a:cubicBezTo>
                  <a:pt x="146405" y="431661"/>
                  <a:pt x="144978" y="428182"/>
                  <a:pt x="144084" y="424428"/>
                </a:cubicBezTo>
                <a:lnTo>
                  <a:pt x="135779" y="390046"/>
                </a:lnTo>
                <a:cubicBezTo>
                  <a:pt x="134527" y="384866"/>
                  <a:pt x="125779" y="379778"/>
                  <a:pt x="120688" y="381296"/>
                </a:cubicBezTo>
                <a:lnTo>
                  <a:pt x="86753" y="391295"/>
                </a:lnTo>
                <a:cubicBezTo>
                  <a:pt x="83180" y="392364"/>
                  <a:pt x="79520" y="392904"/>
                  <a:pt x="75860" y="392991"/>
                </a:cubicBezTo>
                <a:cubicBezTo>
                  <a:pt x="61482" y="393439"/>
                  <a:pt x="51750" y="384597"/>
                  <a:pt x="47017" y="379238"/>
                </a:cubicBezTo>
                <a:cubicBezTo>
                  <a:pt x="27372" y="356826"/>
                  <a:pt x="12101" y="330482"/>
                  <a:pt x="2456" y="302177"/>
                </a:cubicBezTo>
                <a:cubicBezTo>
                  <a:pt x="136" y="295392"/>
                  <a:pt x="-2544" y="282710"/>
                  <a:pt x="4869" y="270566"/>
                </a:cubicBezTo>
                <a:cubicBezTo>
                  <a:pt x="6834" y="267352"/>
                  <a:pt x="9242" y="264316"/>
                  <a:pt x="12014" y="261637"/>
                </a:cubicBezTo>
                <a:lnTo>
                  <a:pt x="37643" y="237259"/>
                </a:lnTo>
                <a:cubicBezTo>
                  <a:pt x="41395" y="233689"/>
                  <a:pt x="41395" y="223420"/>
                  <a:pt x="37643" y="219845"/>
                </a:cubicBezTo>
                <a:lnTo>
                  <a:pt x="11926" y="195467"/>
                </a:lnTo>
                <a:cubicBezTo>
                  <a:pt x="9159" y="192788"/>
                  <a:pt x="6747" y="189752"/>
                  <a:pt x="4781" y="186538"/>
                </a:cubicBezTo>
                <a:cubicBezTo>
                  <a:pt x="-2539" y="174394"/>
                  <a:pt x="136" y="161712"/>
                  <a:pt x="2461" y="155014"/>
                </a:cubicBezTo>
                <a:cubicBezTo>
                  <a:pt x="12106" y="126708"/>
                  <a:pt x="27285" y="100451"/>
                  <a:pt x="47021" y="77953"/>
                </a:cubicBezTo>
                <a:cubicBezTo>
                  <a:pt x="51754" y="72594"/>
                  <a:pt x="61579" y="63757"/>
                  <a:pt x="75864" y="64200"/>
                </a:cubicBezTo>
                <a:cubicBezTo>
                  <a:pt x="79525" y="64291"/>
                  <a:pt x="83185" y="64913"/>
                  <a:pt x="86757" y="65896"/>
                </a:cubicBezTo>
                <a:lnTo>
                  <a:pt x="120692" y="75900"/>
                </a:lnTo>
                <a:cubicBezTo>
                  <a:pt x="125784" y="77418"/>
                  <a:pt x="134531" y="72329"/>
                  <a:pt x="135784" y="67149"/>
                </a:cubicBezTo>
                <a:lnTo>
                  <a:pt x="144089" y="32768"/>
                </a:lnTo>
                <a:cubicBezTo>
                  <a:pt x="144982" y="29018"/>
                  <a:pt x="146409" y="25443"/>
                  <a:pt x="148196" y="22229"/>
                </a:cubicBezTo>
                <a:cubicBezTo>
                  <a:pt x="155074" y="9729"/>
                  <a:pt x="167486" y="5710"/>
                  <a:pt x="174447" y="4279"/>
                </a:cubicBezTo>
                <a:cubicBezTo>
                  <a:pt x="188912" y="1513"/>
                  <a:pt x="203737" y="-9"/>
                  <a:pt x="218916" y="-9"/>
                </a:cubicBezTo>
                <a:lnTo>
                  <a:pt x="218911" y="0"/>
                </a:lnTo>
                <a:moveTo>
                  <a:pt x="185068" y="45898"/>
                </a:moveTo>
                <a:lnTo>
                  <a:pt x="177476" y="77239"/>
                </a:lnTo>
                <a:cubicBezTo>
                  <a:pt x="170511" y="106084"/>
                  <a:pt x="137027" y="125369"/>
                  <a:pt x="108538" y="117066"/>
                </a:cubicBezTo>
                <a:lnTo>
                  <a:pt x="77729" y="107959"/>
                </a:lnTo>
                <a:cubicBezTo>
                  <a:pt x="62997" y="125195"/>
                  <a:pt x="51386" y="145198"/>
                  <a:pt x="43795" y="166627"/>
                </a:cubicBezTo>
                <a:lnTo>
                  <a:pt x="67191" y="188860"/>
                </a:lnTo>
                <a:cubicBezTo>
                  <a:pt x="88622" y="209219"/>
                  <a:pt x="88622" y="247976"/>
                  <a:pt x="67191" y="268335"/>
                </a:cubicBezTo>
                <a:lnTo>
                  <a:pt x="43795" y="290569"/>
                </a:lnTo>
                <a:cubicBezTo>
                  <a:pt x="51386" y="312002"/>
                  <a:pt x="62993" y="332000"/>
                  <a:pt x="77729" y="349237"/>
                </a:cubicBezTo>
                <a:lnTo>
                  <a:pt x="108626" y="340129"/>
                </a:lnTo>
                <a:cubicBezTo>
                  <a:pt x="137023" y="331735"/>
                  <a:pt x="170598" y="351111"/>
                  <a:pt x="177564" y="379956"/>
                </a:cubicBezTo>
                <a:lnTo>
                  <a:pt x="185156" y="411297"/>
                </a:lnTo>
                <a:cubicBezTo>
                  <a:pt x="207121" y="415316"/>
                  <a:pt x="230964" y="415316"/>
                  <a:pt x="252934" y="411297"/>
                </a:cubicBezTo>
                <a:lnTo>
                  <a:pt x="260525" y="379956"/>
                </a:lnTo>
                <a:cubicBezTo>
                  <a:pt x="267491" y="351111"/>
                  <a:pt x="300975" y="331827"/>
                  <a:pt x="329463" y="340129"/>
                </a:cubicBezTo>
                <a:lnTo>
                  <a:pt x="360360" y="349237"/>
                </a:lnTo>
                <a:cubicBezTo>
                  <a:pt x="375092" y="332000"/>
                  <a:pt x="386703" y="311998"/>
                  <a:pt x="394295" y="290569"/>
                </a:cubicBezTo>
                <a:lnTo>
                  <a:pt x="370898" y="268335"/>
                </a:lnTo>
                <a:cubicBezTo>
                  <a:pt x="349467" y="247976"/>
                  <a:pt x="349467" y="209219"/>
                  <a:pt x="370898" y="188860"/>
                </a:cubicBezTo>
                <a:lnTo>
                  <a:pt x="394295" y="166627"/>
                </a:lnTo>
                <a:cubicBezTo>
                  <a:pt x="386703" y="145198"/>
                  <a:pt x="375097" y="125191"/>
                  <a:pt x="360360" y="107959"/>
                </a:cubicBezTo>
                <a:lnTo>
                  <a:pt x="329463" y="117066"/>
                </a:lnTo>
                <a:cubicBezTo>
                  <a:pt x="301067" y="125460"/>
                  <a:pt x="267491" y="106084"/>
                  <a:pt x="260525" y="77239"/>
                </a:cubicBezTo>
                <a:lnTo>
                  <a:pt x="252934" y="45898"/>
                </a:lnTo>
                <a:cubicBezTo>
                  <a:pt x="230968" y="41880"/>
                  <a:pt x="207125" y="41880"/>
                  <a:pt x="185156" y="45898"/>
                </a:cubicBezTo>
                <a:lnTo>
                  <a:pt x="185068" y="45898"/>
                </a:lnTo>
                <a:moveTo>
                  <a:pt x="176049" y="228600"/>
                </a:moveTo>
                <a:cubicBezTo>
                  <a:pt x="176049" y="252274"/>
                  <a:pt x="195238" y="271463"/>
                  <a:pt x="218911" y="271463"/>
                </a:cubicBezTo>
                <a:cubicBezTo>
                  <a:pt x="242584" y="271463"/>
                  <a:pt x="261773" y="252274"/>
                  <a:pt x="261773" y="228600"/>
                </a:cubicBezTo>
                <a:cubicBezTo>
                  <a:pt x="261773" y="204926"/>
                  <a:pt x="242584" y="185738"/>
                  <a:pt x="218911" y="185738"/>
                </a:cubicBezTo>
                <a:cubicBezTo>
                  <a:pt x="195238" y="185738"/>
                  <a:pt x="176049" y="204926"/>
                  <a:pt x="176049" y="228600"/>
                </a:cubicBezTo>
                <a:moveTo>
                  <a:pt x="218911" y="314325"/>
                </a:moveTo>
                <a:cubicBezTo>
                  <a:pt x="171566" y="314325"/>
                  <a:pt x="133187" y="275943"/>
                  <a:pt x="133187" y="228600"/>
                </a:cubicBezTo>
                <a:cubicBezTo>
                  <a:pt x="133187" y="181257"/>
                  <a:pt x="171566" y="142875"/>
                  <a:pt x="218911" y="142875"/>
                </a:cubicBezTo>
                <a:cubicBezTo>
                  <a:pt x="266256" y="142875"/>
                  <a:pt x="304635" y="181257"/>
                  <a:pt x="304635" y="228600"/>
                </a:cubicBezTo>
                <a:cubicBezTo>
                  <a:pt x="304635" y="275943"/>
                  <a:pt x="266256" y="314325"/>
                  <a:pt x="218911" y="314325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SlideSpeak</dc:creator>
  <cp:lastModifiedBy>SlideSpeak</cp:lastModifiedBy>
  <cp:revision>1</cp:revision>
  <dcterms:created xsi:type="dcterms:W3CDTF">2026-01-04T06:29:38Z</dcterms:created>
  <dcterms:modified xsi:type="dcterms:W3CDTF">2026-01-04T06:29:38Z</dcterms:modified>
</cp:coreProperties>
</file>